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140980bfeb48ff" /><Relationship Type="http://schemas.openxmlformats.org/officeDocument/2006/relationships/extended-properties" Target="/docProps/app.xml" Id="Reccb244b5a164b5d" /><Relationship Type="http://schemas.openxmlformats.org/officeDocument/2006/relationships/officeDocument" Target="/ppt/presentation.xml" Id="R97d2f42ea6bd458e" /></Relationships>
</file>

<file path=ppt/presentation.xml><?xml version="1.0" encoding="utf-8"?>
<p:presentation xmlns:p="http://schemas.openxmlformats.org/presentationml/2006/main">
  <p:sldMasterIdLst>
    <p:sldMasterId xmlns:r="http://schemas.openxmlformats.org/officeDocument/2006/relationships" id="2147483648" r:id="R00fc37f2526d4502"/>
  </p:sldMasterIdLst>
  <p:notesMasterIdLst>
    <p:notesMasterId xmlns:r="http://schemas.openxmlformats.org/officeDocument/2006/relationships" r:id="R76bb19bf5de24717"/>
  </p:notesMasterIdLst>
  <p:sldIdLst>
    <p:sldId xmlns:r="http://schemas.openxmlformats.org/officeDocument/2006/relationships" id="256" r:id="Re22c4beaec8c4b30"/>
    <p:sldId xmlns:r="http://schemas.openxmlformats.org/officeDocument/2006/relationships" id="257" r:id="R28ab32d58e25423b"/>
    <p:sldId xmlns:r="http://schemas.openxmlformats.org/officeDocument/2006/relationships" id="258" r:id="R01881a9c16444054"/>
    <p:sldId xmlns:r="http://schemas.openxmlformats.org/officeDocument/2006/relationships" id="259" r:id="Rbbaf5c260d444266"/>
    <p:sldId xmlns:r="http://schemas.openxmlformats.org/officeDocument/2006/relationships" id="260" r:id="R5a3ce70e1fc6431e"/>
    <p:sldId xmlns:r="http://schemas.openxmlformats.org/officeDocument/2006/relationships" id="261" r:id="Re98219379ef14900"/>
    <p:sldId xmlns:r="http://schemas.openxmlformats.org/officeDocument/2006/relationships" id="262" r:id="Re9abc569875240e3"/>
    <p:sldId xmlns:r="http://schemas.openxmlformats.org/officeDocument/2006/relationships" id="263" r:id="R262cb0097384475d"/>
    <p:sldId xmlns:r="http://schemas.openxmlformats.org/officeDocument/2006/relationships" id="264" r:id="R57ae62fc2e9449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d3ea4b44104f3e" /><Relationship Type="http://schemas.openxmlformats.org/officeDocument/2006/relationships/slideMaster" Target="/ppt/slideMasters/slideMaster1.xml" Id="R00fc37f2526d4502" /><Relationship Type="http://schemas.openxmlformats.org/officeDocument/2006/relationships/notesMaster" Target="/ppt/notesMasters/notesMaster1.xml" Id="R76bb19bf5de24717" /><Relationship Type="http://schemas.openxmlformats.org/officeDocument/2006/relationships/presProps" Target="/ppt/presProps.xml" Id="R74c4387f86ab430a" /><Relationship Type="http://schemas.openxmlformats.org/officeDocument/2006/relationships/tableStyles" Target="/ppt/tableStyles.xml" Id="Rcf034e717d694b6f" /><Relationship Type="http://schemas.openxmlformats.org/officeDocument/2006/relationships/slide" Target="/ppt/slides/slide1.xml" Id="Re22c4beaec8c4b30" /><Relationship Type="http://schemas.openxmlformats.org/officeDocument/2006/relationships/slide" Target="/ppt/slides/slide2.xml" Id="R28ab32d58e25423b" /><Relationship Type="http://schemas.openxmlformats.org/officeDocument/2006/relationships/slide" Target="/ppt/slides/slide3.xml" Id="R01881a9c16444054" /><Relationship Type="http://schemas.openxmlformats.org/officeDocument/2006/relationships/slide" Target="/ppt/slides/slide4.xml" Id="Rbbaf5c260d444266" /><Relationship Type="http://schemas.openxmlformats.org/officeDocument/2006/relationships/slide" Target="/ppt/slides/slide5.xml" Id="R5a3ce70e1fc6431e" /><Relationship Type="http://schemas.openxmlformats.org/officeDocument/2006/relationships/slide" Target="/ppt/slides/slide6.xml" Id="Re98219379ef14900" /><Relationship Type="http://schemas.openxmlformats.org/officeDocument/2006/relationships/slide" Target="/ppt/slides/slide7.xml" Id="Re9abc569875240e3" /><Relationship Type="http://schemas.openxmlformats.org/officeDocument/2006/relationships/slide" Target="/ppt/slides/slide8.xml" Id="R262cb0097384475d" /><Relationship Type="http://schemas.openxmlformats.org/officeDocument/2006/relationships/slide" Target="/ppt/slides/slide9.xml" Id="R57ae62fc2e9449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85c773ebb148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b037f43cab482b" /><Relationship Type="http://schemas.openxmlformats.org/officeDocument/2006/relationships/notesMaster" Target="/ppt/notesMasters/notesMaster1.xml" Id="R90064a6863674a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a0ffbd93394985" /><Relationship Type="http://schemas.openxmlformats.org/officeDocument/2006/relationships/notesMaster" Target="/ppt/notesMasters/notesMaster1.xml" Id="Rd17ad8a6705a49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fede6ebc654a8b" /><Relationship Type="http://schemas.openxmlformats.org/officeDocument/2006/relationships/notesMaster" Target="/ppt/notesMasters/notesMaster1.xml" Id="R000fc9bed8c949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73e369a43b4ca2" /><Relationship Type="http://schemas.openxmlformats.org/officeDocument/2006/relationships/notesMaster" Target="/ppt/notesMasters/notesMaster1.xml" Id="R3a242a5362f940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083c053b2540f6" /><Relationship Type="http://schemas.openxmlformats.org/officeDocument/2006/relationships/notesMaster" Target="/ppt/notesMasters/notesMaster1.xml" Id="R22d1df13889047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39881bef064b7f" /><Relationship Type="http://schemas.openxmlformats.org/officeDocument/2006/relationships/notesMaster" Target="/ppt/notesMasters/notesMaster1.xml" Id="Rdf8efa7b4d2d48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754adf853a4859" /><Relationship Type="http://schemas.openxmlformats.org/officeDocument/2006/relationships/notesMaster" Target="/ppt/notesMasters/notesMaster1.xml" Id="R56852e493d4749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c3f6b88a9446c4" /><Relationship Type="http://schemas.openxmlformats.org/officeDocument/2006/relationships/notesMaster" Target="/ppt/notesMasters/notesMaster1.xml" Id="R13db1822b54140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21d86dfe5f47b5" /><Relationship Type="http://schemas.openxmlformats.org/officeDocument/2006/relationships/notesMaster" Target="/ppt/notesMasters/notesMaster1.xml" Id="R84b553e39c1e49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mục tiêu của bài: hiểu Edge Feature, xem cách triển khai Canny bằng OpenCV và đặt nó vào pipeline phát hiện lỗi trên điện thoại. Các trường thông tin nhóm đang để placeholder để chỉnh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trực giác: gradient là đạo hàm theo không gian. Khi cường độ sáng đổi nhanh, độ lớn gradient tăng và ta có một vị trí biên. Liên hệ với vết xước, vết nứt nhưng nhấn mạnh rằng biên cũng xuất hiện ở đường viền bình thường của điện thoại.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bốn họ thuật toán ở mức khái quát. Canny được chọn cho code minh họa vì thể hiện đủ các bước và có API cv2.Canny. Pipeline trên slide sẽ được nối trực tiếp với code ở slide sau. Nguồn: OpenCV Sobel tutorial và Canny 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code theo thứ tự trên slide. Nhấn mạnh kiểm tra image is None để tránh chạy tiếp với ảnh rỗng. Canny nhận ảnh đã làm mượt, rồi trả về ảnh nhị phân. Code có thể chạy độc lập nếu đặt phone.jpg cùng thư mục.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mục đích chứ không chỉ đọc cú pháp. Grayscale làm cho gradient phản ánh thay đổi độ sáng. Gaussian Blur giảm nhiễu. Hai ngưỡng tạo cơ chế hysteresis của Canny. Điều chỉnh ngưỡng cần kiểm chứng trên dữ liệu thực tế, không có một bộ số đúng cho mọi ảnh.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slide này để đặt kỳ vọng đúng. Edge Feature hữu ích khi lỗi có hình dạng đường rõ, nhưng biên giả là vấn đề chính trên bề mặt phản xạ. Phần nhận diện lỗi cần bước sau như phân đoạn, luật hình học hoặc mô hình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 người nghe một quy tắc thực hành: xem lỗi có tạo đường biên rõ hay không. Nếu không, cần bổ sung màu sắc, texture, ánh sáng hoặc học sâu.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rõ ranh giới khái niệm: Edge Detection chỉ tạo tín hiệu đường biên. Để kết luận lỗi, pipeline phải dùng thêm vùng quan tâm, tiêu chí hình học hoặc mô hình AI. Không tuyên bố độ chính xác nếu chưa có dữ liệu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ngắn gọn rồi chuyển sang hỏi đáp. Nhắc lại rằng các nguồn chính là tài liệu OpenCV và bài báo Canny.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01419bd61148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d2fb97d24f49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7736aa5dab4f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6ba9021b8343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b061ae25a949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871c7d20624c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175085-6266-4567-90AE-66E1EF5F1F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5119F9D-D6D6-4047-84A0-455FEC15220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6908A8-2CE9-473A-9544-ACFC77575C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6005A1-B3AB-42DD-B881-0FE745454B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119ACF-64D8-4074-B6C2-EA6261EEE1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34A1DE-34BC-44A2-A42A-B1F42FEBB4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6605DA-F1D5-4ED0-80BC-EF4B4190AF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3BE658-9854-446B-BF90-601EBF3FFB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EFAA67-1A15-42FB-8EFF-338AFEFB76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FD6F1E-456D-4E83-830D-941C9BB4E9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14f8f5a4bc4541" /><Relationship Type="http://schemas.openxmlformats.org/officeDocument/2006/relationships/slideLayout" Target="/ppt/slideLayouts/slideLayout1.xml" Id="R2550141c25ae49bf" /><Relationship Type="http://schemas.openxmlformats.org/officeDocument/2006/relationships/slideLayout" Target="/ppt/slideLayouts/slideLayout2.xml" Id="R104828879ae847dd" /><Relationship Type="http://schemas.openxmlformats.org/officeDocument/2006/relationships/slideLayout" Target="/ppt/slideLayouts/slideLayout3.xml" Id="Rb4d1ae7e41454f7e" /><Relationship Type="http://schemas.openxmlformats.org/officeDocument/2006/relationships/slideLayout" Target="/ppt/slideLayouts/slideLayout4.xml" Id="Re83d62da175743f4" /><Relationship Type="http://schemas.openxmlformats.org/officeDocument/2006/relationships/slideLayout" Target="/ppt/slideLayouts/slideLayout5.xml" Id="R2ece1c97ca4846fb" /><Relationship Type="http://schemas.openxmlformats.org/officeDocument/2006/relationships/slideLayout" Target="/ppt/slideLayouts/slideLayout6.xml" Id="R6ae5438c0aee4c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50141c25ae49bf"/>
    <p:sldLayoutId xmlns:r="http://schemas.openxmlformats.org/officeDocument/2006/relationships" id="2147483650" r:id="R104828879ae847dd"/>
    <p:sldLayoutId xmlns:r="http://schemas.openxmlformats.org/officeDocument/2006/relationships" id="2147483651" r:id="Rb4d1ae7e41454f7e"/>
    <p:sldLayoutId xmlns:r="http://schemas.openxmlformats.org/officeDocument/2006/relationships" id="2147483652" r:id="Re83d62da175743f4"/>
    <p:sldLayoutId xmlns:r="http://schemas.openxmlformats.org/officeDocument/2006/relationships" id="2147483653" r:id="R2ece1c97ca4846fb"/>
    <p:sldLayoutId xmlns:r="http://schemas.openxmlformats.org/officeDocument/2006/relationships" id="2147483654" r:id="R6ae5438c0aee4c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e92284af8f4d23" /><Relationship Type="http://schemas.openxmlformats.org/officeDocument/2006/relationships/notesSlide" Target="/ppt/notesSlides/notesSlide1.xml" Id="Re490418ca5a74c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e3d11c57b34ab3" /><Relationship Type="http://schemas.openxmlformats.org/officeDocument/2006/relationships/notesSlide" Target="/ppt/notesSlides/notesSlide2.xml" Id="Reda988daa32444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7b269f2aff437c" /><Relationship Type="http://schemas.openxmlformats.org/officeDocument/2006/relationships/notesSlide" Target="/ppt/notesSlides/notesSlide3.xml" Id="R06d8210bea5948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254731dd6b482c" /><Relationship Type="http://schemas.openxmlformats.org/officeDocument/2006/relationships/notesSlide" Target="/ppt/notesSlides/notesSlide4.xml" Id="R2da7329a0eac46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9938a8d3244405" /><Relationship Type="http://schemas.openxmlformats.org/officeDocument/2006/relationships/notesSlide" Target="/ppt/notesSlides/notesSlide5.xml" Id="R6cba374a6a0e4b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780d2610d34160" /><Relationship Type="http://schemas.openxmlformats.org/officeDocument/2006/relationships/notesSlide" Target="/ppt/notesSlides/notesSlide6.xml" Id="R053925a9c8ce42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31c7790c4b48aa" /><Relationship Type="http://schemas.openxmlformats.org/officeDocument/2006/relationships/notesSlide" Target="/ppt/notesSlides/notesSlide7.xml" Id="R1aa66bd7e69747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d198bb16c2641f4" /><Relationship Type="http://schemas.openxmlformats.org/officeDocument/2006/relationships/notesSlide" Target="/ppt/notesSlides/notesSlide8.xml" Id="R133b04615ea347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4d2e35005cd41a1" /><Relationship Type="http://schemas.openxmlformats.org/officeDocument/2006/relationships/notesSlide" Target="/ppt/notesSlides/notesSlide9.xml" Id="R27679d3d49124f93"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6EE4AEB-124F-4D5C-8A15-FC38346739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B17DCD-82F5-460E-B665-13DBDAE1CD16}"/>
              </a:ext>
            </a:extLst>
          </p:cNvPr>
          <p:cNvSpPr>
            <a:spLocks xmlns:a="http://schemas.openxmlformats.org/drawingml/2006/main" noGrp="1"/>
          </p:cNvSpPr>
          <p:nvPr/>
        </p:nvSpPr>
        <p:spPr>
          <a:xfrm xmlns:a="http://schemas.openxmlformats.org/drawingml/2006/main">
            <a:off x="7810500" y="0"/>
            <a:ext cx="4381500" cy="6858000"/>
          </a:xfrm>
          <a:prstGeom xmlns:a="http://schemas.openxmlformats.org/drawingml/2006/main" prst="rect">
            <a:avLst/>
          </a:prstGeom>
          <a:solidFill xmlns:a="http://schemas.openxmlformats.org/drawingml/2006/main">
            <a:srgbClr val="102C4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22232C-9412-413E-A3FE-4EF5D5F4F17D}"/>
              </a:ext>
            </a:extLst>
          </p:cNvPr>
          <p:cNvSpPr>
            <a:spLocks xmlns:a="http://schemas.openxmlformats.org/drawingml/2006/main" noGrp="1"/>
          </p:cNvSpPr>
          <p:nvPr/>
        </p:nvSpPr>
        <p:spPr>
          <a:xfrm xmlns:a="http://schemas.openxmlformats.org/drawingml/2006/main">
            <a:off x="8143875" y="857250"/>
            <a:ext cx="2905125" cy="4524375"/>
          </a:xfrm>
          <a:prstGeom xmlns:a="http://schemas.openxmlformats.org/drawingml/2006/main" prst="roundRect">
            <a:avLst>
              <a:gd name="adj" fmla="val 5246"/>
            </a:avLst>
          </a:prstGeom>
          <a:solidFill xmlns:a="http://schemas.openxmlformats.org/drawingml/2006/main">
            <a:srgbClr val="07131F"/>
          </a:solidFill>
          <a:ln xmlns:a="http://schemas.openxmlformats.org/drawingml/2006/main" w="19050">
            <a:solidFill>
              <a:srgbClr val="19D3E6"/>
            </a:solidFill>
            <a:prstDash val="solid"/>
          </a:ln>
        </p:spPr>
      </p:sp>
      <p:sp>
        <p:nvSpPr>
          <p:cNvPr id="4" name="">
            <a:extLst xmlns:a="http://schemas.openxmlformats.org/drawingml/2006/main">
              <a:ext uri="{FF2B5EF4-FFF2-40B4-BE49-F238E27FC236}">
                <a16:creationId xmlns:a16="http://schemas.microsoft.com/office/drawing/2014/main" id="{5D2EEA7D-C404-43FE-BCE2-D18A62ADFEE2}"/>
              </a:ext>
            </a:extLst>
          </p:cNvPr>
          <p:cNvSpPr>
            <a:spLocks xmlns:a="http://schemas.openxmlformats.org/drawingml/2006/main" noGrp="1"/>
          </p:cNvSpPr>
          <p:nvPr/>
        </p:nvSpPr>
        <p:spPr>
          <a:xfrm xmlns:a="http://schemas.openxmlformats.org/drawingml/2006/main">
            <a:off x="8420100" y="1143000"/>
            <a:ext cx="2352675" cy="3981450"/>
          </a:xfrm>
          <a:prstGeom xmlns:a="http://schemas.openxmlformats.org/drawingml/2006/main" prst="roundRect">
            <a:avLst>
              <a:gd name="adj" fmla="val 4858"/>
            </a:avLst>
          </a:prstGeom>
          <a:solidFill xmlns:a="http://schemas.openxmlformats.org/drawingml/2006/main">
            <a:srgbClr val="112A42"/>
          </a:solidFill>
          <a:ln xmlns:a="http://schemas.openxmlformats.org/drawingml/2006/main" w="9525">
            <a:solidFill>
              <a:srgbClr val="315C78"/>
            </a:solidFill>
            <a:prstDash val="solid"/>
          </a:ln>
        </p:spPr>
      </p:sp>
      <p:sp>
        <p:nvSpPr>
          <p:cNvPr id="5" name="">
            <a:extLst xmlns:a="http://schemas.openxmlformats.org/drawingml/2006/main">
              <a:ext uri="{FF2B5EF4-FFF2-40B4-BE49-F238E27FC236}">
                <a16:creationId xmlns:a16="http://schemas.microsoft.com/office/drawing/2014/main" id="{D56B6A88-D920-49F0-BED8-42401A17A025}"/>
              </a:ext>
            </a:extLst>
          </p:cNvPr>
          <p:cNvSpPr>
            <a:spLocks xmlns:a="http://schemas.openxmlformats.org/drawingml/2006/main" noGrp="1"/>
          </p:cNvSpPr>
          <p:nvPr/>
        </p:nvSpPr>
        <p:spPr>
          <a:xfrm xmlns:a="http://schemas.openxmlformats.org/drawingml/2006/main">
            <a:off x="8743950" y="1571625"/>
            <a:ext cx="1714500" cy="762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7795FD-B52C-4911-822F-593F36D2081B}"/>
              </a:ext>
            </a:extLst>
          </p:cNvPr>
          <p:cNvSpPr>
            <a:spLocks xmlns:a="http://schemas.openxmlformats.org/drawingml/2006/main" noGrp="1"/>
          </p:cNvSpPr>
          <p:nvPr/>
        </p:nvSpPr>
        <p:spPr>
          <a:xfrm xmlns:a="http://schemas.openxmlformats.org/drawingml/2006/main">
            <a:off x="8743950" y="1885950"/>
            <a:ext cx="1428750" cy="76200"/>
          </a:xfrm>
          <a:prstGeom xmlns:a="http://schemas.openxmlformats.org/drawingml/2006/main" prst="rect">
            <a:avLst/>
          </a:prstGeom>
          <a:solidFill xmlns:a="http://schemas.openxmlformats.org/drawingml/2006/main">
            <a:srgbClr val="8FEA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6CDEEE-E958-4698-A309-2B0A8BDF8931}"/>
              </a:ext>
            </a:extLst>
          </p:cNvPr>
          <p:cNvSpPr>
            <a:spLocks xmlns:a="http://schemas.openxmlformats.org/drawingml/2006/main" noGrp="1"/>
          </p:cNvSpPr>
          <p:nvPr/>
        </p:nvSpPr>
        <p:spPr>
          <a:xfrm xmlns:a="http://schemas.openxmlformats.org/drawingml/2006/main">
            <a:off x="8743950" y="2200275"/>
            <a:ext cx="1123950" cy="76200"/>
          </a:xfrm>
          <a:prstGeom xmlns:a="http://schemas.openxmlformats.org/drawingml/2006/main" prst="rect">
            <a:avLst/>
          </a:prstGeom>
          <a:solidFill xmlns:a="http://schemas.openxmlformats.org/drawingml/2006/main">
            <a:srgbClr val="4C789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4EFD2CA-ADF5-4770-8C76-E8CC5D5F89E3}"/>
              </a:ext>
            </a:extLst>
          </p:cNvPr>
          <p:cNvSpPr>
            <a:spLocks xmlns:a="http://schemas.openxmlformats.org/drawingml/2006/main" noGrp="1"/>
          </p:cNvSpPr>
          <p:nvPr/>
        </p:nvSpPr>
        <p:spPr>
          <a:xfrm xmlns:a="http://schemas.openxmlformats.org/drawingml/2006/main">
            <a:off x="9563100" y="2857500"/>
            <a:ext cx="28575" cy="11430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A60DFFC-850E-4DDA-90F8-6FE5C310C6CF}"/>
              </a:ext>
            </a:extLst>
          </p:cNvPr>
          <p:cNvSpPr>
            <a:spLocks xmlns:a="http://schemas.openxmlformats.org/drawingml/2006/main" noGrp="1"/>
          </p:cNvSpPr>
          <p:nvPr/>
        </p:nvSpPr>
        <p:spPr>
          <a:xfrm xmlns:a="http://schemas.openxmlformats.org/drawingml/2006/main">
            <a:off x="9563100" y="3381375"/>
            <a:ext cx="552450" cy="28575"/>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E2E77FA-2309-4D35-8D3E-A4C1B73C47D1}"/>
              </a:ext>
            </a:extLst>
          </p:cNvPr>
          <p:cNvSpPr>
            <a:spLocks xmlns:a="http://schemas.openxmlformats.org/drawingml/2006/main" noGrp="1"/>
          </p:cNvSpPr>
          <p:nvPr/>
        </p:nvSpPr>
        <p:spPr>
          <a:xfrm xmlns:a="http://schemas.openxmlformats.org/drawingml/2006/main">
            <a:off x="9020175" y="3857625"/>
            <a:ext cx="571500" cy="28575"/>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135DE3-00AF-4BD8-B855-4559BFC518CD}"/>
              </a:ext>
            </a:extLst>
          </p:cNvPr>
          <p:cNvSpPr>
            <a:spLocks xmlns:a="http://schemas.openxmlformats.org/drawingml/2006/main" noGrp="1"/>
          </p:cNvSpPr>
          <p:nvPr/>
        </p:nvSpPr>
        <p:spPr>
          <a:xfrm xmlns:a="http://schemas.openxmlformats.org/drawingml/2006/main">
            <a:off x="9020175" y="3857625"/>
            <a:ext cx="28575" cy="6096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478C757-7267-4B58-8073-98B87ADE69C0}"/>
              </a:ext>
            </a:extLst>
          </p:cNvPr>
          <p:cNvSpPr>
            <a:spLocks xmlns:a="http://schemas.openxmlformats.org/drawingml/2006/main" noGrp="1"/>
          </p:cNvSpPr>
          <p:nvPr/>
        </p:nvSpPr>
        <p:spPr>
          <a:xfrm xmlns:a="http://schemas.openxmlformats.org/drawingml/2006/main">
            <a:off x="9048750" y="4448175"/>
            <a:ext cx="781050" cy="28575"/>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E94C6F-7112-42BA-B90F-1FB734D23105}"/>
              </a:ext>
            </a:extLst>
          </p:cNvPr>
          <p:cNvSpPr>
            <a:spLocks xmlns:a="http://schemas.openxmlformats.org/drawingml/2006/main" noGrp="1"/>
          </p:cNvSpPr>
          <p:nvPr/>
        </p:nvSpPr>
        <p:spPr>
          <a:xfrm xmlns:a="http://schemas.openxmlformats.org/drawingml/2006/main">
            <a:off x="8610600" y="547687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19D3E6"/>
                </a:solidFill>
              </a:defRPr>
            </a:defPPr>
          </a:lstStyle>
          <a:p xmlns:a="http://schemas.openxmlformats.org/drawingml/2006/main">
            <a:pPr>
              <a:defRPr sz="1050" b="1">
                <a:solidFill>
                  <a:srgbClr val="19D3E6"/>
                </a:solidFill>
              </a:defRPr>
            </a:pPr>
            <a:r>
              <a:rPr sz="1050" b="1">
                <a:solidFill>
                  <a:srgbClr val="19D3E6"/>
                </a:solidFill>
              </a:rPr>
              <a:t>EDGE MAP</a:t>
            </a:r>
          </a:p>
        </p:txBody>
      </p:sp>
      <p:sp>
        <p:nvSpPr>
          <p:cNvPr id="14" name="">
            <a:extLst xmlns:a="http://schemas.openxmlformats.org/drawingml/2006/main">
              <a:ext uri="{FF2B5EF4-FFF2-40B4-BE49-F238E27FC236}">
                <a16:creationId xmlns:a16="http://schemas.microsoft.com/office/drawing/2014/main" id="{7364B43D-673C-4AB9-9E57-5EFB79E00812}"/>
              </a:ext>
            </a:extLst>
          </p:cNvPr>
          <p:cNvSpPr>
            <a:spLocks xmlns:a="http://schemas.openxmlformats.org/drawingml/2006/main" noGrp="1"/>
          </p:cNvSpPr>
          <p:nvPr/>
        </p:nvSpPr>
        <p:spPr>
          <a:xfrm xmlns:a="http://schemas.openxmlformats.org/drawingml/2006/main">
            <a:off x="685800" y="7429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9D3E6"/>
                </a:solidFill>
              </a:defRPr>
            </a:defPPr>
          </a:lstStyle>
          <a:p xmlns:a="http://schemas.openxmlformats.org/drawingml/2006/main">
            <a:pPr>
              <a:defRPr sz="1200" b="1">
                <a:solidFill>
                  <a:srgbClr val="19D3E6"/>
                </a:solidFill>
              </a:defRPr>
            </a:pPr>
            <a:r>
              <a:rPr sz="1200" b="1">
                <a:solidFill>
                  <a:srgbClr val="19D3E6"/>
                </a:solidFill>
              </a:rPr>
              <a:t>XỬ LÝ ẢNH</a:t>
            </a:r>
          </a:p>
        </p:txBody>
      </p:sp>
      <p:sp>
        <p:nvSpPr>
          <p:cNvPr id="15" name="">
            <a:extLst xmlns:a="http://schemas.openxmlformats.org/drawingml/2006/main">
              <a:ext uri="{FF2B5EF4-FFF2-40B4-BE49-F238E27FC236}">
                <a16:creationId xmlns:a16="http://schemas.microsoft.com/office/drawing/2014/main" id="{0FB7E9A4-F629-4A71-B95C-A4363BE87E82}"/>
              </a:ext>
            </a:extLst>
          </p:cNvPr>
          <p:cNvSpPr>
            <a:spLocks xmlns:a="http://schemas.openxmlformats.org/drawingml/2006/main" noGrp="1"/>
          </p:cNvSpPr>
          <p:nvPr/>
        </p:nvSpPr>
        <p:spPr>
          <a:xfrm xmlns:a="http://schemas.openxmlformats.org/drawingml/2006/main">
            <a:off x="685800" y="1333500"/>
            <a:ext cx="628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00" b="1">
                <a:solidFill>
                  <a:srgbClr val="F6FBFF"/>
                </a:solidFill>
              </a:defRPr>
            </a:defPPr>
          </a:lstStyle>
          <a:p xmlns:a="http://schemas.openxmlformats.org/drawingml/2006/main">
            <a:pPr>
              <a:defRPr sz="4200" b="1">
                <a:solidFill>
                  <a:srgbClr val="F6FBFF"/>
                </a:solidFill>
              </a:defRPr>
            </a:pPr>
            <a:r>
              <a:rPr sz="4200" b="1">
                <a:solidFill>
                  <a:srgbClr val="F6FBFF"/>
                </a:solidFill>
              </a:rPr>
              <a:t>Edge Feature</a:t>
            </a:r>
          </a:p>
        </p:txBody>
      </p:sp>
      <p:sp>
        <p:nvSpPr>
          <p:cNvPr id="16" name="">
            <a:extLst xmlns:a="http://schemas.openxmlformats.org/drawingml/2006/main">
              <a:ext uri="{FF2B5EF4-FFF2-40B4-BE49-F238E27FC236}">
                <a16:creationId xmlns:a16="http://schemas.microsoft.com/office/drawing/2014/main" id="{DD2A96E3-F4EC-4846-BA99-A693205D1EAB}"/>
              </a:ext>
            </a:extLst>
          </p:cNvPr>
          <p:cNvSpPr>
            <a:spLocks xmlns:a="http://schemas.openxmlformats.org/drawingml/2006/main" noGrp="1"/>
          </p:cNvSpPr>
          <p:nvPr/>
        </p:nvSpPr>
        <p:spPr>
          <a:xfrm xmlns:a="http://schemas.openxmlformats.org/drawingml/2006/main">
            <a:off x="704850" y="222885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8FEAF2"/>
                </a:solidFill>
              </a:defRPr>
            </a:defPPr>
          </a:lstStyle>
          <a:p xmlns:a="http://schemas.openxmlformats.org/drawingml/2006/main">
            <a:pPr>
              <a:defRPr sz="2100" b="1">
                <a:solidFill>
                  <a:srgbClr val="8FEAF2"/>
                </a:solidFill>
              </a:defRPr>
            </a:pPr>
            <a:r>
              <a:rPr sz="2100" b="1">
                <a:solidFill>
                  <a:srgbClr val="8FEAF2"/>
                </a:solidFill>
              </a:rPr>
              <a:t>Đặc trưng biên trong phát hiện lỗi ngoại quan</a:t>
            </a:r>
          </a:p>
        </p:txBody>
      </p:sp>
      <p:sp>
        <p:nvSpPr>
          <p:cNvPr id="17" name="">
            <a:extLst xmlns:a="http://schemas.openxmlformats.org/drawingml/2006/main">
              <a:ext uri="{FF2B5EF4-FFF2-40B4-BE49-F238E27FC236}">
                <a16:creationId xmlns:a16="http://schemas.microsoft.com/office/drawing/2014/main" id="{CB8450E6-8AFF-456F-BE60-F23B71842431}"/>
              </a:ext>
            </a:extLst>
          </p:cNvPr>
          <p:cNvSpPr>
            <a:spLocks xmlns:a="http://schemas.openxmlformats.org/drawingml/2006/main" noGrp="1"/>
          </p:cNvSpPr>
          <p:nvPr/>
        </p:nvSpPr>
        <p:spPr>
          <a:xfrm xmlns:a="http://schemas.openxmlformats.org/drawingml/2006/main">
            <a:off x="704850" y="3181350"/>
            <a:ext cx="581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F6FBFF"/>
                </a:solidFill>
              </a:defRPr>
            </a:defPPr>
          </a:lstStyle>
          <a:p xmlns:a="http://schemas.openxmlformats.org/drawingml/2006/main">
            <a:pPr>
              <a:lnSpc>
                <a:spcPct val="118000"/>
              </a:lnSpc>
              <a:buNone/>
              <a:defRPr sz="1425">
                <a:solidFill>
                  <a:srgbClr val="F6FBFF"/>
                </a:solidFill>
              </a:defRPr>
            </a:pPr>
            <a:r>
              <a:rPr sz="1425">
                <a:solidFill>
                  <a:srgbClr val="F6FBFF"/>
                </a:solidFill>
              </a:rPr>
              <a:t>Đồ án: Hệ thống phát hiện lỗi ngoại quan trên thiết bị điện tử bằng xử lý ảnh và Deep Learning</a:t>
            </a:r>
          </a:p>
        </p:txBody>
      </p:sp>
      <p:sp>
        <p:nvSpPr>
          <p:cNvPr id="18" name="">
            <a:extLst xmlns:a="http://schemas.openxmlformats.org/drawingml/2006/main">
              <a:ext uri="{FF2B5EF4-FFF2-40B4-BE49-F238E27FC236}">
                <a16:creationId xmlns:a16="http://schemas.microsoft.com/office/drawing/2014/main" id="{E42C690F-A914-4BE3-8E03-8E225D76668C}"/>
              </a:ext>
            </a:extLst>
          </p:cNvPr>
          <p:cNvSpPr>
            <a:spLocks xmlns:a="http://schemas.openxmlformats.org/drawingml/2006/main" noGrp="1"/>
          </p:cNvSpPr>
          <p:nvPr/>
        </p:nvSpPr>
        <p:spPr>
          <a:xfrm xmlns:a="http://schemas.openxmlformats.org/drawingml/2006/main">
            <a:off x="704850" y="4267200"/>
            <a:ext cx="5143500" cy="9525"/>
          </a:xfrm>
          <a:prstGeom xmlns:a="http://schemas.openxmlformats.org/drawingml/2006/main" prst="rect">
            <a:avLst/>
          </a:prstGeom>
          <a:solidFill xmlns:a="http://schemas.openxmlformats.org/drawingml/2006/main">
            <a:srgbClr val="2E57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1BDA87-8015-436A-A333-0050FD2CC066}"/>
              </a:ext>
            </a:extLst>
          </p:cNvPr>
          <p:cNvSpPr>
            <a:spLocks xmlns:a="http://schemas.openxmlformats.org/drawingml/2006/main" noGrp="1"/>
          </p:cNvSpPr>
          <p:nvPr/>
        </p:nvSpPr>
        <p:spPr>
          <a:xfrm xmlns:a="http://schemas.openxmlformats.org/drawingml/2006/main">
            <a:off x="704850" y="4495800"/>
            <a:ext cx="571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9BDCC"/>
                </a:solidFill>
              </a:defRPr>
            </a:defPPr>
          </a:lstStyle>
          <a:p xmlns:a="http://schemas.openxmlformats.org/drawingml/2006/main">
            <a:pPr>
              <a:lnSpc>
                <a:spcPct val="125000"/>
              </a:lnSpc>
              <a:buNone/>
              <a:defRPr sz="1200">
                <a:solidFill>
                  <a:srgbClr val="A9BDCC"/>
                </a:solidFill>
              </a:defRPr>
            </a:pPr>
            <a:r>
              <a:rPr sz="1200">
                <a:solidFill>
                  <a:srgbClr val="A9BDCC"/>
                </a:solidFill>
              </a:rPr>
              <a:t>Trường: [Điền tên trường]</a:t>
            </a:r>
          </a:p>
          <a:p xmlns:a="http://schemas.openxmlformats.org/drawingml/2006/main">
            <a:pPr>
              <a:lnSpc>
                <a:spcPct val="125000"/>
              </a:lnSpc>
              <a:buNone/>
              <a:defRPr sz="1200">
                <a:solidFill>
                  <a:srgbClr val="A9BDCC"/>
                </a:solidFill>
              </a:defRPr>
            </a:pPr>
            <a:r>
              <a:rPr sz="1200">
                <a:solidFill>
                  <a:srgbClr val="A9BDCC"/>
                </a:solidFill>
              </a:rPr>
              <a:t>Môn học: Xử lý ảnh</a:t>
            </a:r>
          </a:p>
          <a:p xmlns:a="http://schemas.openxmlformats.org/drawingml/2006/main">
            <a:pPr>
              <a:lnSpc>
                <a:spcPct val="125000"/>
              </a:lnSpc>
              <a:buNone/>
              <a:defRPr sz="1200">
                <a:solidFill>
                  <a:srgbClr val="A9BDCC"/>
                </a:solidFill>
              </a:defRPr>
            </a:pPr>
            <a:r>
              <a:rPr sz="1200">
                <a:solidFill>
                  <a:srgbClr val="A9BDCC"/>
                </a:solidFill>
              </a:rPr>
              <a:t>GVHD: [Điền tên giảng viên]</a:t>
            </a:r>
          </a:p>
          <a:p xmlns:a="http://schemas.openxmlformats.org/drawingml/2006/main">
            <a:pPr>
              <a:lnSpc>
                <a:spcPct val="125000"/>
              </a:lnSpc>
              <a:buNone/>
              <a:defRPr sz="1200">
                <a:solidFill>
                  <a:srgbClr val="A9BDCC"/>
                </a:solidFill>
              </a:defRPr>
            </a:pPr>
            <a:r>
              <a:rPr sz="1200">
                <a:solidFill>
                  <a:srgbClr val="A9BDCC"/>
                </a:solidFill>
              </a:rPr>
              <a:t>Nhóm: [Điền họ tên + mã sinh viên]</a:t>
            </a:r>
          </a:p>
          <a:p xmlns:a="http://schemas.openxmlformats.org/drawingml/2006/main">
            <a:pPr>
              <a:lnSpc>
                <a:spcPct val="125000"/>
              </a:lnSpc>
              <a:buNone/>
              <a:defRPr sz="1200">
                <a:solidFill>
                  <a:srgbClr val="A9BDCC"/>
                </a:solidFill>
              </a:defRPr>
            </a:pPr>
            <a:r>
              <a:rPr sz="1200">
                <a:solidFill>
                  <a:srgbClr val="A9BDCC"/>
                </a:solidFill>
              </a:rPr>
              <a:t>Người trình bày: [Điền họ tên]</a:t>
            </a:r>
          </a:p>
        </p:txBody>
      </p:sp>
    </p:spTree>
    <p:extLst>
      <p:ext uri="{BB962C8B-B14F-4D97-AF65-F5344CB8AC3E}">
        <p14:creationId xmlns:p14="http://schemas.microsoft.com/office/powerpoint/2010/main" val="1596583581"/>
      </p:ext>
    </p:extLst>
  </p:cSld>
</p:sld>
</file>

<file path=ppt/slides/slide2.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B79508C-B388-4D54-A7B6-895DF947E9F7}"/>
              </a:ext>
            </a:extLst>
          </p:cNvPr>
          <p:cNvSpPr>
            <a:spLocks xmlns:a="http://schemas.openxmlformats.org/drawingml/2006/main" noGrp="1"/>
          </p:cNvSpPr>
          <p:nvPr/>
        </p:nvSpPr>
        <p:spPr>
          <a:xfrm xmlns:a="http://schemas.openxmlformats.org/drawingml/2006/main">
            <a:off x="6477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9D3E6"/>
                </a:solidFill>
              </a:defRPr>
            </a:defPPr>
          </a:lstStyle>
          <a:p xmlns:a="http://schemas.openxmlformats.org/drawingml/2006/main">
            <a:pPr>
              <a:defRPr sz="975" b="1">
                <a:solidFill>
                  <a:srgbClr val="19D3E6"/>
                </a:solidFill>
              </a:defRPr>
            </a:pPr>
            <a:r>
              <a:rPr sz="975" b="1">
                <a:solidFill>
                  <a:srgbClr val="19D3E6"/>
                </a:solidFill>
              </a:rPr>
              <a:t>01 · KHÁI NIỆM</a:t>
            </a:r>
          </a:p>
        </p:txBody>
      </p:sp>
      <p:sp>
        <p:nvSpPr>
          <p:cNvPr id="2" name="">
            <a:extLst xmlns:a="http://schemas.openxmlformats.org/drawingml/2006/main">
              <a:ext uri="{FF2B5EF4-FFF2-40B4-BE49-F238E27FC236}">
                <a16:creationId xmlns:a16="http://schemas.microsoft.com/office/drawing/2014/main" id="{2A6346BE-1CDB-44F0-8429-40C8E8E57FEE}"/>
              </a:ext>
            </a:extLst>
          </p:cNvPr>
          <p:cNvSpPr>
            <a:spLocks xmlns:a="http://schemas.openxmlformats.org/drawingml/2006/main" noGrp="1"/>
          </p:cNvSpPr>
          <p:nvPr/>
        </p:nvSpPr>
        <p:spPr>
          <a:xfrm xmlns:a="http://schemas.openxmlformats.org/drawingml/2006/main">
            <a:off x="647700" y="6096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6FBFF"/>
                </a:solidFill>
              </a:defRPr>
            </a:defPPr>
          </a:lstStyle>
          <a:p xmlns:a="http://schemas.openxmlformats.org/drawingml/2006/main">
            <a:pPr>
              <a:defRPr sz="2550" b="1">
                <a:solidFill>
                  <a:srgbClr val="F6FBFF"/>
                </a:solidFill>
              </a:defRPr>
            </a:pPr>
            <a:r>
              <a:rPr sz="2550" b="1">
                <a:solidFill>
                  <a:srgbClr val="F6FBFF"/>
                </a:solidFill>
              </a:rPr>
              <a:t>Edge Feature và vị trí của biên ảnh</a:t>
            </a:r>
          </a:p>
        </p:txBody>
      </p:sp>
      <p:sp>
        <p:nvSpPr>
          <p:cNvPr id="3" name="">
            <a:extLst xmlns:a="http://schemas.openxmlformats.org/drawingml/2006/main">
              <a:ext uri="{FF2B5EF4-FFF2-40B4-BE49-F238E27FC236}">
                <a16:creationId xmlns:a16="http://schemas.microsoft.com/office/drawing/2014/main" id="{A74C510D-B7B6-4057-9F98-427AEA222205}"/>
              </a:ext>
            </a:extLst>
          </p:cNvPr>
          <p:cNvSpPr>
            <a:spLocks xmlns:a="http://schemas.openxmlformats.org/drawingml/2006/main" noGrp="1"/>
          </p:cNvSpPr>
          <p:nvPr/>
        </p:nvSpPr>
        <p:spPr>
          <a:xfrm xmlns:a="http://schemas.openxmlformats.org/drawingml/2006/main">
            <a:off x="647700" y="1181100"/>
            <a:ext cx="85725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B7FDC8-E759-4F2A-86E4-7C12F5FCA5C3}"/>
              </a:ext>
            </a:extLst>
          </p:cNvPr>
          <p:cNvSpPr>
            <a:spLocks xmlns:a="http://schemas.openxmlformats.org/drawingml/2006/main" noGrp="1"/>
          </p:cNvSpPr>
          <p:nvPr/>
        </p:nvSpPr>
        <p:spPr>
          <a:xfrm xmlns:a="http://schemas.openxmlformats.org/drawingml/2006/main">
            <a:off x="11239500" y="323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BDCC"/>
                </a:solidFill>
              </a:defRPr>
            </a:defPPr>
          </a:lstStyle>
          <a:p xmlns:a="http://schemas.openxmlformats.org/drawingml/2006/main">
            <a:pPr>
              <a:defRPr sz="1050" b="1">
                <a:solidFill>
                  <a:srgbClr val="A9BDCC"/>
                </a:solidFill>
              </a:defRPr>
            </a:pPr>
            <a:r>
              <a:rPr sz="1050" b="1">
                <a:solidFill>
                  <a:srgbClr val="A9BDCC"/>
                </a:solidFill>
              </a:rPr>
              <a:t>02</a:t>
            </a:r>
          </a:p>
        </p:txBody>
      </p:sp>
      <p:sp>
        <p:nvSpPr>
          <p:cNvPr id="5" name="">
            <a:extLst xmlns:a="http://schemas.openxmlformats.org/drawingml/2006/main">
              <a:ext uri="{FF2B5EF4-FFF2-40B4-BE49-F238E27FC236}">
                <a16:creationId xmlns:a16="http://schemas.microsoft.com/office/drawing/2014/main" id="{4DCDC8DC-399E-4E62-925E-A630D34FD863}"/>
              </a:ext>
            </a:extLst>
          </p:cNvPr>
          <p:cNvSpPr>
            <a:spLocks xmlns:a="http://schemas.openxmlformats.org/drawingml/2006/main" noGrp="1"/>
          </p:cNvSpPr>
          <p:nvPr/>
        </p:nvSpPr>
        <p:spPr>
          <a:xfrm xmlns:a="http://schemas.openxmlformats.org/drawingml/2006/main">
            <a:off x="647700" y="14859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F6FBFF"/>
                </a:solidFill>
              </a:defRPr>
            </a:defPPr>
          </a:lstStyle>
          <a:p xmlns:a="http://schemas.openxmlformats.org/drawingml/2006/main">
            <a:pPr>
              <a:lnSpc>
                <a:spcPct val="115000"/>
              </a:lnSpc>
              <a:buNone/>
              <a:defRPr sz="1575">
                <a:solidFill>
                  <a:srgbClr val="F6FBFF"/>
                </a:solidFill>
              </a:defRPr>
            </a:pPr>
            <a:r>
              <a:rPr sz="1575">
                <a:solidFill>
                  <a:srgbClr val="F6FBFF"/>
                </a:solidFill>
              </a:rPr>
              <a:t>Biên là nơi cường độ sáng thay đổi nhanh theo không gian. Edge Feature mô tả các cấu trúc đường này để hỗ trợ phân tích hình dạng và bất thường.</a:t>
            </a:r>
          </a:p>
        </p:txBody>
      </p:sp>
      <p:sp>
        <p:nvSpPr>
          <p:cNvPr id="6" name="">
            <a:extLst xmlns:a="http://schemas.openxmlformats.org/drawingml/2006/main">
              <a:ext uri="{FF2B5EF4-FFF2-40B4-BE49-F238E27FC236}">
                <a16:creationId xmlns:a16="http://schemas.microsoft.com/office/drawing/2014/main" id="{2E17F783-CED1-41ED-A1A9-7586768295B1}"/>
              </a:ext>
            </a:extLst>
          </p:cNvPr>
          <p:cNvSpPr>
            <a:spLocks xmlns:a="http://schemas.openxmlformats.org/drawingml/2006/main" noGrp="1"/>
          </p:cNvSpPr>
          <p:nvPr/>
        </p:nvSpPr>
        <p:spPr>
          <a:xfrm xmlns:a="http://schemas.openxmlformats.org/drawingml/2006/main">
            <a:off x="666750" y="2400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A9BDCC"/>
                </a:solidFill>
              </a:defRPr>
            </a:defPPr>
          </a:lstStyle>
          <a:p xmlns:a="http://schemas.openxmlformats.org/drawingml/2006/main">
            <a:pPr>
              <a:defRPr sz="1125" b="1">
                <a:solidFill>
                  <a:srgbClr val="A9BDCC"/>
                </a:solidFill>
              </a:defRPr>
            </a:pPr>
            <a:r>
              <a:rPr sz="1125" b="1">
                <a:solidFill>
                  <a:srgbClr val="A9BDCC"/>
                </a:solidFill>
              </a:rPr>
              <a:t>Cường độ sáng I(x, y)</a:t>
            </a:r>
          </a:p>
        </p:txBody>
      </p:sp>
      <p:sp>
        <p:nvSpPr>
          <p:cNvPr id="7" name="">
            <a:extLst xmlns:a="http://schemas.openxmlformats.org/drawingml/2006/main">
              <a:ext uri="{FF2B5EF4-FFF2-40B4-BE49-F238E27FC236}">
                <a16:creationId xmlns:a16="http://schemas.microsoft.com/office/drawing/2014/main" id="{2464A7D7-2646-4FFC-BB96-1323D834EF0C}"/>
              </a:ext>
            </a:extLst>
          </p:cNvPr>
          <p:cNvSpPr>
            <a:spLocks xmlns:a="http://schemas.openxmlformats.org/drawingml/2006/main" noGrp="1"/>
          </p:cNvSpPr>
          <p:nvPr/>
        </p:nvSpPr>
        <p:spPr>
          <a:xfrm xmlns:a="http://schemas.openxmlformats.org/drawingml/2006/main">
            <a:off x="704850" y="2857500"/>
            <a:ext cx="4476750" cy="28575"/>
          </a:xfrm>
          <a:prstGeom xmlns:a="http://schemas.openxmlformats.org/drawingml/2006/main" prst="rect">
            <a:avLst/>
          </a:prstGeom>
          <a:solidFill xmlns:a="http://schemas.openxmlformats.org/drawingml/2006/main">
            <a:srgbClr val="4D738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E079DF8-7424-4BD9-A06F-853F58FB36DD}"/>
              </a:ext>
            </a:extLst>
          </p:cNvPr>
          <p:cNvSpPr>
            <a:spLocks xmlns:a="http://schemas.openxmlformats.org/drawingml/2006/main" noGrp="1"/>
          </p:cNvSpPr>
          <p:nvPr/>
        </p:nvSpPr>
        <p:spPr>
          <a:xfrm xmlns:a="http://schemas.openxmlformats.org/drawingml/2006/main">
            <a:off x="1143000" y="2095500"/>
            <a:ext cx="28575" cy="1524000"/>
          </a:xfrm>
          <a:prstGeom xmlns:a="http://schemas.openxmlformats.org/drawingml/2006/main" prst="rect">
            <a:avLst/>
          </a:prstGeom>
          <a:solidFill xmlns:a="http://schemas.openxmlformats.org/drawingml/2006/main">
            <a:srgbClr val="8FEA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7CCB197-644E-4ED1-A6AE-10C48881B1E5}"/>
              </a:ext>
            </a:extLst>
          </p:cNvPr>
          <p:cNvSpPr>
            <a:spLocks xmlns:a="http://schemas.openxmlformats.org/drawingml/2006/main" noGrp="1"/>
          </p:cNvSpPr>
          <p:nvPr/>
        </p:nvSpPr>
        <p:spPr>
          <a:xfrm xmlns:a="http://schemas.openxmlformats.org/drawingml/2006/main">
            <a:off x="1143000" y="2095500"/>
            <a:ext cx="1619250" cy="28575"/>
          </a:xfrm>
          <a:prstGeom xmlns:a="http://schemas.openxmlformats.org/drawingml/2006/main" prst="rect">
            <a:avLst/>
          </a:prstGeom>
          <a:solidFill xmlns:a="http://schemas.openxmlformats.org/drawingml/2006/main">
            <a:srgbClr val="8FEA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7B01B08-84D4-472E-952D-49B32C79A075}"/>
              </a:ext>
            </a:extLst>
          </p:cNvPr>
          <p:cNvSpPr>
            <a:spLocks xmlns:a="http://schemas.openxmlformats.org/drawingml/2006/main" noGrp="1"/>
          </p:cNvSpPr>
          <p:nvPr/>
        </p:nvSpPr>
        <p:spPr>
          <a:xfrm xmlns:a="http://schemas.openxmlformats.org/drawingml/2006/main">
            <a:off x="2762250" y="2095500"/>
            <a:ext cx="28575" cy="15240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E52410-AE3E-46F0-BC13-7549739DD1F7}"/>
              </a:ext>
            </a:extLst>
          </p:cNvPr>
          <p:cNvSpPr>
            <a:spLocks xmlns:a="http://schemas.openxmlformats.org/drawingml/2006/main" noGrp="1"/>
          </p:cNvSpPr>
          <p:nvPr/>
        </p:nvSpPr>
        <p:spPr>
          <a:xfrm xmlns:a="http://schemas.openxmlformats.org/drawingml/2006/main">
            <a:off x="2762250" y="3619500"/>
            <a:ext cx="1809750" cy="28575"/>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D579DF-C72D-4112-9324-490B6AD650FD}"/>
              </a:ext>
            </a:extLst>
          </p:cNvPr>
          <p:cNvSpPr>
            <a:spLocks xmlns:a="http://schemas.openxmlformats.org/drawingml/2006/main" noGrp="1"/>
          </p:cNvSpPr>
          <p:nvPr/>
        </p:nvSpPr>
        <p:spPr>
          <a:xfrm xmlns:a="http://schemas.openxmlformats.org/drawingml/2006/main">
            <a:off x="1409700" y="37338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9BDCC"/>
                </a:solidFill>
              </a:defRPr>
            </a:defPPr>
          </a:lstStyle>
          <a:p xmlns:a="http://schemas.openxmlformats.org/drawingml/2006/main">
            <a:pPr>
              <a:defRPr sz="1050">
                <a:solidFill>
                  <a:srgbClr val="A9BDCC"/>
                </a:solidFill>
              </a:defRPr>
            </a:pPr>
            <a:r>
              <a:rPr sz="1050">
                <a:solidFill>
                  <a:srgbClr val="A9BDCC"/>
                </a:solidFill>
              </a:rPr>
              <a:t>vùng tối</a:t>
            </a:r>
          </a:p>
        </p:txBody>
      </p:sp>
      <p:sp>
        <p:nvSpPr>
          <p:cNvPr id="13" name="">
            <a:extLst xmlns:a="http://schemas.openxmlformats.org/drawingml/2006/main">
              <a:ext uri="{FF2B5EF4-FFF2-40B4-BE49-F238E27FC236}">
                <a16:creationId xmlns:a16="http://schemas.microsoft.com/office/drawing/2014/main" id="{0CBD931B-9B8F-42C1-A632-1E5C4B41CAE7}"/>
              </a:ext>
            </a:extLst>
          </p:cNvPr>
          <p:cNvSpPr>
            <a:spLocks xmlns:a="http://schemas.openxmlformats.org/drawingml/2006/main" noGrp="1"/>
          </p:cNvSpPr>
          <p:nvPr/>
        </p:nvSpPr>
        <p:spPr>
          <a:xfrm xmlns:a="http://schemas.openxmlformats.org/drawingml/2006/main">
            <a:off x="2495550" y="18288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19D3E6"/>
                </a:solidFill>
              </a:defRPr>
            </a:defPPr>
          </a:lstStyle>
          <a:p xmlns:a="http://schemas.openxmlformats.org/drawingml/2006/main">
            <a:pPr>
              <a:defRPr sz="1050" b="1">
                <a:solidFill>
                  <a:srgbClr val="19D3E6"/>
                </a:solidFill>
              </a:defRPr>
            </a:pPr>
            <a:r>
              <a:rPr sz="1050" b="1">
                <a:solidFill>
                  <a:srgbClr val="19D3E6"/>
                </a:solidFill>
              </a:rPr>
              <a:t>biên</a:t>
            </a:r>
          </a:p>
        </p:txBody>
      </p:sp>
      <p:sp>
        <p:nvSpPr>
          <p:cNvPr id="14" name="">
            <a:extLst xmlns:a="http://schemas.openxmlformats.org/drawingml/2006/main">
              <a:ext uri="{FF2B5EF4-FFF2-40B4-BE49-F238E27FC236}">
                <a16:creationId xmlns:a16="http://schemas.microsoft.com/office/drawing/2014/main" id="{CB56AE51-40E6-4B24-A775-C7647CBB6D2B}"/>
              </a:ext>
            </a:extLst>
          </p:cNvPr>
          <p:cNvSpPr>
            <a:spLocks xmlns:a="http://schemas.openxmlformats.org/drawingml/2006/main" noGrp="1"/>
          </p:cNvSpPr>
          <p:nvPr/>
        </p:nvSpPr>
        <p:spPr>
          <a:xfrm xmlns:a="http://schemas.openxmlformats.org/drawingml/2006/main">
            <a:off x="3381375" y="37338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9BDCC"/>
                </a:solidFill>
              </a:defRPr>
            </a:defPPr>
          </a:lstStyle>
          <a:p xmlns:a="http://schemas.openxmlformats.org/drawingml/2006/main">
            <a:pPr>
              <a:defRPr sz="1050">
                <a:solidFill>
                  <a:srgbClr val="A9BDCC"/>
                </a:solidFill>
              </a:defRPr>
            </a:pPr>
            <a:r>
              <a:rPr sz="1050">
                <a:solidFill>
                  <a:srgbClr val="A9BDCC"/>
                </a:solidFill>
              </a:rPr>
              <a:t>vùng sáng</a:t>
            </a:r>
          </a:p>
        </p:txBody>
      </p:sp>
      <p:sp>
        <p:nvSpPr>
          <p:cNvPr id="15" name="">
            <a:extLst xmlns:a="http://schemas.openxmlformats.org/drawingml/2006/main">
              <a:ext uri="{FF2B5EF4-FFF2-40B4-BE49-F238E27FC236}">
                <a16:creationId xmlns:a16="http://schemas.microsoft.com/office/drawing/2014/main" id="{7EB8483F-4EAD-489A-8522-6DAADD851847}"/>
              </a:ext>
            </a:extLst>
          </p:cNvPr>
          <p:cNvSpPr>
            <a:spLocks xmlns:a="http://schemas.openxmlformats.org/drawingml/2006/main" noGrp="1"/>
          </p:cNvSpPr>
          <p:nvPr/>
        </p:nvSpPr>
        <p:spPr>
          <a:xfrm xmlns:a="http://schemas.openxmlformats.org/drawingml/2006/main">
            <a:off x="2247900" y="23812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9D3E6"/>
                </a:solidFill>
              </a:defRPr>
            </a:defPPr>
          </a:lstStyle>
          <a:p xmlns:a="http://schemas.openxmlformats.org/drawingml/2006/main">
            <a:pPr>
              <a:defRPr sz="1200" b="1">
                <a:solidFill>
                  <a:srgbClr val="19D3E6"/>
                </a:solidFill>
              </a:defRPr>
            </a:pPr>
            <a:r>
              <a:rPr sz="1200" b="1">
                <a:solidFill>
                  <a:srgbClr val="19D3E6"/>
                </a:solidFill>
              </a:rPr>
              <a:t>Gradient |∇I| lớn</a:t>
            </a:r>
          </a:p>
        </p:txBody>
      </p:sp>
      <p:sp>
        <p:nvSpPr>
          <p:cNvPr id="16" name="">
            <a:extLst xmlns:a="http://schemas.openxmlformats.org/drawingml/2006/main">
              <a:ext uri="{FF2B5EF4-FFF2-40B4-BE49-F238E27FC236}">
                <a16:creationId xmlns:a16="http://schemas.microsoft.com/office/drawing/2014/main" id="{C978B6F7-9048-4CD3-9B89-2F04A7346B91}"/>
              </a:ext>
            </a:extLst>
          </p:cNvPr>
          <p:cNvSpPr>
            <a:spLocks xmlns:a="http://schemas.openxmlformats.org/drawingml/2006/main" noGrp="1"/>
          </p:cNvSpPr>
          <p:nvPr/>
        </p:nvSpPr>
        <p:spPr>
          <a:xfrm xmlns:a="http://schemas.openxmlformats.org/drawingml/2006/main">
            <a:off x="6572250" y="14859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A9BDCC"/>
                </a:solidFill>
              </a:defRPr>
            </a:defPPr>
          </a:lstStyle>
          <a:p xmlns:a="http://schemas.openxmlformats.org/drawingml/2006/main">
            <a:pPr>
              <a:defRPr sz="1125" b="1">
                <a:solidFill>
                  <a:srgbClr val="A9BDCC"/>
                </a:solidFill>
              </a:defRPr>
            </a:pPr>
            <a:r>
              <a:rPr sz="1125" b="1">
                <a:solidFill>
                  <a:srgbClr val="A9BDCC"/>
                </a:solidFill>
              </a:rPr>
              <a:t>Minh họa trên bề mặt điện thoại</a:t>
            </a:r>
          </a:p>
        </p:txBody>
      </p:sp>
      <p:sp>
        <p:nvSpPr>
          <p:cNvPr id="17" name="">
            <a:extLst xmlns:a="http://schemas.openxmlformats.org/drawingml/2006/main">
              <a:ext uri="{FF2B5EF4-FFF2-40B4-BE49-F238E27FC236}">
                <a16:creationId xmlns:a16="http://schemas.microsoft.com/office/drawing/2014/main" id="{44CA0CE9-5FA1-46D5-A371-651B9EFDC57D}"/>
              </a:ext>
            </a:extLst>
          </p:cNvPr>
          <p:cNvSpPr>
            <a:spLocks xmlns:a="http://schemas.openxmlformats.org/drawingml/2006/main" noGrp="1"/>
          </p:cNvSpPr>
          <p:nvPr/>
        </p:nvSpPr>
        <p:spPr>
          <a:xfrm xmlns:a="http://schemas.openxmlformats.org/drawingml/2006/main">
            <a:off x="6572250" y="1943100"/>
            <a:ext cx="2190750" cy="2952750"/>
          </a:xfrm>
          <a:prstGeom xmlns:a="http://schemas.openxmlformats.org/drawingml/2006/main" prst="roundRect">
            <a:avLst>
              <a:gd name="adj" fmla="val 5217"/>
            </a:avLst>
          </a:prstGeom>
          <a:solidFill xmlns:a="http://schemas.openxmlformats.org/drawingml/2006/main">
            <a:srgbClr val="173149"/>
          </a:solidFill>
          <a:ln xmlns:a="http://schemas.openxmlformats.org/drawingml/2006/main" w="9525">
            <a:solidFill>
              <a:srgbClr val="3F6780"/>
            </a:solidFill>
            <a:prstDash val="solid"/>
          </a:ln>
        </p:spPr>
      </p:sp>
      <p:sp>
        <p:nvSpPr>
          <p:cNvPr id="18" name="">
            <a:extLst xmlns:a="http://schemas.openxmlformats.org/drawingml/2006/main">
              <a:ext uri="{FF2B5EF4-FFF2-40B4-BE49-F238E27FC236}">
                <a16:creationId xmlns:a16="http://schemas.microsoft.com/office/drawing/2014/main" id="{1A943266-227B-41C3-8BE8-5E972ACBA5F4}"/>
              </a:ext>
            </a:extLst>
          </p:cNvPr>
          <p:cNvSpPr>
            <a:spLocks xmlns:a="http://schemas.openxmlformats.org/drawingml/2006/main" noGrp="1"/>
          </p:cNvSpPr>
          <p:nvPr/>
        </p:nvSpPr>
        <p:spPr>
          <a:xfrm xmlns:a="http://schemas.openxmlformats.org/drawingml/2006/main">
            <a:off x="6905625" y="2286000"/>
            <a:ext cx="1524000" cy="2095500"/>
          </a:xfrm>
          <a:prstGeom xmlns:a="http://schemas.openxmlformats.org/drawingml/2006/main" prst="roundRect">
            <a:avLst>
              <a:gd name="adj" fmla="val 7500"/>
            </a:avLst>
          </a:prstGeom>
          <a:solidFill xmlns:a="http://schemas.openxmlformats.org/drawingml/2006/main">
            <a:srgbClr val="294D6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891A945-F329-4421-930F-C50FC87A9B17}"/>
              </a:ext>
            </a:extLst>
          </p:cNvPr>
          <p:cNvSpPr>
            <a:spLocks xmlns:a="http://schemas.openxmlformats.org/drawingml/2006/main" noGrp="1"/>
          </p:cNvSpPr>
          <p:nvPr/>
        </p:nvSpPr>
        <p:spPr>
          <a:xfrm xmlns:a="http://schemas.openxmlformats.org/drawingml/2006/main">
            <a:off x="7362825" y="2647950"/>
            <a:ext cx="38100" cy="1028700"/>
          </a:xfrm>
          <a:prstGeom xmlns:a="http://schemas.openxmlformats.org/drawingml/2006/main" prst="rect">
            <a:avLst/>
          </a:prstGeom>
          <a:solidFill xmlns:a="http://schemas.openxmlformats.org/drawingml/2006/main">
            <a:srgbClr val="D2E9F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A595F7A-D0F0-47FC-80AF-1D9F50F33E37}"/>
              </a:ext>
            </a:extLst>
          </p:cNvPr>
          <p:cNvSpPr>
            <a:spLocks xmlns:a="http://schemas.openxmlformats.org/drawingml/2006/main" noGrp="1"/>
          </p:cNvSpPr>
          <p:nvPr/>
        </p:nvSpPr>
        <p:spPr>
          <a:xfrm xmlns:a="http://schemas.openxmlformats.org/drawingml/2006/main">
            <a:off x="7362825" y="3143250"/>
            <a:ext cx="533400" cy="38100"/>
          </a:xfrm>
          <a:prstGeom xmlns:a="http://schemas.openxmlformats.org/drawingml/2006/main" prst="rect">
            <a:avLst/>
          </a:prstGeom>
          <a:solidFill xmlns:a="http://schemas.openxmlformats.org/drawingml/2006/main">
            <a:srgbClr val="D2E9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86D6A01-EA84-4841-9F53-5491C2561FFE}"/>
              </a:ext>
            </a:extLst>
          </p:cNvPr>
          <p:cNvSpPr>
            <a:spLocks xmlns:a="http://schemas.openxmlformats.org/drawingml/2006/main" noGrp="1"/>
          </p:cNvSpPr>
          <p:nvPr/>
        </p:nvSpPr>
        <p:spPr>
          <a:xfrm xmlns:a="http://schemas.openxmlformats.org/drawingml/2006/main">
            <a:off x="7896225" y="3143250"/>
            <a:ext cx="38100" cy="419100"/>
          </a:xfrm>
          <a:prstGeom xmlns:a="http://schemas.openxmlformats.org/drawingml/2006/main" prst="rect">
            <a:avLst/>
          </a:prstGeom>
          <a:solidFill xmlns:a="http://schemas.openxmlformats.org/drawingml/2006/main">
            <a:srgbClr val="D2E9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91A4B4B-8591-4B34-9938-6CD650D157DA}"/>
              </a:ext>
            </a:extLst>
          </p:cNvPr>
          <p:cNvSpPr>
            <a:spLocks xmlns:a="http://schemas.openxmlformats.org/drawingml/2006/main" noGrp="1"/>
          </p:cNvSpPr>
          <p:nvPr/>
        </p:nvSpPr>
        <p:spPr>
          <a:xfrm xmlns:a="http://schemas.openxmlformats.org/drawingml/2006/main">
            <a:off x="6724650" y="50101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F6FBFF"/>
                </a:solidFill>
              </a:defRPr>
            </a:defPPr>
          </a:lstStyle>
          <a:p xmlns:a="http://schemas.openxmlformats.org/drawingml/2006/main">
            <a:pPr>
              <a:defRPr sz="1200">
                <a:solidFill>
                  <a:srgbClr val="F6FBFF"/>
                </a:solidFill>
              </a:defRPr>
            </a:pPr>
            <a:r>
              <a:rPr sz="1200">
                <a:solidFill>
                  <a:srgbClr val="F6FBFF"/>
                </a:solidFill>
              </a:rPr>
              <a:t>Ảnh gốc</a:t>
            </a:r>
          </a:p>
          <a:p xmlns:a="http://schemas.openxmlformats.org/drawingml/2006/main">
            <a:pPr>
              <a:defRPr sz="1200">
                <a:solidFill>
                  <a:srgbClr val="F6FBFF"/>
                </a:solidFill>
              </a:defRPr>
            </a:pPr>
            <a:r>
              <a:rPr sz="1200">
                <a:solidFill>
                  <a:srgbClr val="F6FBFF"/>
                </a:solidFill>
              </a:rPr>
              <a:t>(vết nứt / xước)</a:t>
            </a:r>
          </a:p>
        </p:txBody>
      </p:sp>
      <p:sp>
        <p:nvSpPr>
          <p:cNvPr id="23" name="">
            <a:extLst xmlns:a="http://schemas.openxmlformats.org/drawingml/2006/main">
              <a:ext uri="{FF2B5EF4-FFF2-40B4-BE49-F238E27FC236}">
                <a16:creationId xmlns:a16="http://schemas.microsoft.com/office/drawing/2014/main" id="{F7EFD8AD-20B4-4F1D-90E6-97C720E1B003}"/>
              </a:ext>
            </a:extLst>
          </p:cNvPr>
          <p:cNvSpPr>
            <a:spLocks xmlns:a="http://schemas.openxmlformats.org/drawingml/2006/main" noGrp="1"/>
          </p:cNvSpPr>
          <p:nvPr/>
        </p:nvSpPr>
        <p:spPr>
          <a:xfrm xmlns:a="http://schemas.openxmlformats.org/drawingml/2006/main">
            <a:off x="9144000" y="1943100"/>
            <a:ext cx="2190750" cy="2952750"/>
          </a:xfrm>
          <a:prstGeom xmlns:a="http://schemas.openxmlformats.org/drawingml/2006/main" prst="roundRect">
            <a:avLst>
              <a:gd name="adj" fmla="val 5217"/>
            </a:avLst>
          </a:prstGeom>
          <a:solidFill xmlns:a="http://schemas.openxmlformats.org/drawingml/2006/main">
            <a:srgbClr val="07131F"/>
          </a:solidFill>
          <a:ln xmlns:a="http://schemas.openxmlformats.org/drawingml/2006/main" w="9525">
            <a:solidFill>
              <a:srgbClr val="19D3E6"/>
            </a:solidFill>
            <a:prstDash val="solid"/>
          </a:ln>
        </p:spPr>
      </p:sp>
      <p:sp>
        <p:nvSpPr>
          <p:cNvPr id="24" name="">
            <a:extLst xmlns:a="http://schemas.openxmlformats.org/drawingml/2006/main">
              <a:ext uri="{FF2B5EF4-FFF2-40B4-BE49-F238E27FC236}">
                <a16:creationId xmlns:a16="http://schemas.microsoft.com/office/drawing/2014/main" id="{02CD45D4-5598-44C3-9A49-88D6EA27A166}"/>
              </a:ext>
            </a:extLst>
          </p:cNvPr>
          <p:cNvSpPr>
            <a:spLocks xmlns:a="http://schemas.openxmlformats.org/drawingml/2006/main" noGrp="1"/>
          </p:cNvSpPr>
          <p:nvPr/>
        </p:nvSpPr>
        <p:spPr>
          <a:xfrm xmlns:a="http://schemas.openxmlformats.org/drawingml/2006/main">
            <a:off x="10229850" y="2647950"/>
            <a:ext cx="38100" cy="10287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7129C1-B4C5-4806-85D1-101324D60D52}"/>
              </a:ext>
            </a:extLst>
          </p:cNvPr>
          <p:cNvSpPr>
            <a:spLocks xmlns:a="http://schemas.openxmlformats.org/drawingml/2006/main" noGrp="1"/>
          </p:cNvSpPr>
          <p:nvPr/>
        </p:nvSpPr>
        <p:spPr>
          <a:xfrm xmlns:a="http://schemas.openxmlformats.org/drawingml/2006/main">
            <a:off x="10229850" y="3143250"/>
            <a:ext cx="53340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4FED495-71F6-46C2-A9B6-8DA605A40FD5}"/>
              </a:ext>
            </a:extLst>
          </p:cNvPr>
          <p:cNvSpPr>
            <a:spLocks xmlns:a="http://schemas.openxmlformats.org/drawingml/2006/main" noGrp="1"/>
          </p:cNvSpPr>
          <p:nvPr/>
        </p:nvSpPr>
        <p:spPr>
          <a:xfrm xmlns:a="http://schemas.openxmlformats.org/drawingml/2006/main">
            <a:off x="10763250" y="3143250"/>
            <a:ext cx="38100" cy="419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28C80A3-E479-429A-8856-39DC758FC7FD}"/>
              </a:ext>
            </a:extLst>
          </p:cNvPr>
          <p:cNvSpPr>
            <a:spLocks xmlns:a="http://schemas.openxmlformats.org/drawingml/2006/main" noGrp="1"/>
          </p:cNvSpPr>
          <p:nvPr/>
        </p:nvSpPr>
        <p:spPr>
          <a:xfrm xmlns:a="http://schemas.openxmlformats.org/drawingml/2006/main">
            <a:off x="9296400" y="50101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F6FBFF"/>
                </a:solidFill>
              </a:defRPr>
            </a:defPPr>
          </a:lstStyle>
          <a:p xmlns:a="http://schemas.openxmlformats.org/drawingml/2006/main">
            <a:pPr>
              <a:defRPr sz="1200">
                <a:solidFill>
                  <a:srgbClr val="F6FBFF"/>
                </a:solidFill>
              </a:defRPr>
            </a:pPr>
            <a:r>
              <a:rPr sz="1200">
                <a:solidFill>
                  <a:srgbClr val="F6FBFF"/>
                </a:solidFill>
              </a:rPr>
              <a:t>Ảnh biên</a:t>
            </a:r>
          </a:p>
          <a:p xmlns:a="http://schemas.openxmlformats.org/drawingml/2006/main">
            <a:pPr>
              <a:defRPr sz="1200">
                <a:solidFill>
                  <a:srgbClr val="F6FBFF"/>
                </a:solidFill>
              </a:defRPr>
            </a:pPr>
            <a:r>
              <a:rPr sz="1200">
                <a:solidFill>
                  <a:srgbClr val="F6FBFF"/>
                </a:solidFill>
              </a:rPr>
              <a:t>(đường nổi bật)</a:t>
            </a:r>
          </a:p>
        </p:txBody>
      </p:sp>
      <p:sp>
        <p:nvSpPr>
          <p:cNvPr id="28" name="">
            <a:extLst xmlns:a="http://schemas.openxmlformats.org/drawingml/2006/main">
              <a:ext uri="{FF2B5EF4-FFF2-40B4-BE49-F238E27FC236}">
                <a16:creationId xmlns:a16="http://schemas.microsoft.com/office/drawing/2014/main" id="{1F8A6CCD-5D4F-4F49-A4FB-4F89E7D0ACDD}"/>
              </a:ext>
            </a:extLst>
          </p:cNvPr>
          <p:cNvSpPr>
            <a:spLocks xmlns:a="http://schemas.openxmlformats.org/drawingml/2006/main" noGrp="1"/>
          </p:cNvSpPr>
          <p:nvPr/>
        </p:nvSpPr>
        <p:spPr>
          <a:xfrm xmlns:a="http://schemas.openxmlformats.org/drawingml/2006/main">
            <a:off x="6572250" y="57150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8FEAF2"/>
                </a:solidFill>
              </a:defRPr>
            </a:defPPr>
          </a:lstStyle>
          <a:p xmlns:a="http://schemas.openxmlformats.org/drawingml/2006/main">
            <a:pPr>
              <a:lnSpc>
                <a:spcPct val="110000"/>
              </a:lnSpc>
              <a:buNone/>
              <a:defRPr sz="1200">
                <a:solidFill>
                  <a:srgbClr val="8FEAF2"/>
                </a:solidFill>
              </a:defRPr>
            </a:pPr>
            <a:r>
              <a:rPr sz="1200">
                <a:solidFill>
                  <a:srgbClr val="8FEAF2"/>
                </a:solidFill>
              </a:rPr>
              <a:t>Trong đồ án, đường biên của vết xước hoặc vết nứt là tín hiệu để khoanh vùng bất thường. Biên của vật thể bình thường vẫn có thể xuất hiện.</a:t>
            </a:r>
          </a:p>
        </p:txBody>
      </p:sp>
    </p:spTree>
    <p:extLst>
      <p:ext uri="{BB962C8B-B14F-4D97-AF65-F5344CB8AC3E}">
        <p14:creationId xmlns:p14="http://schemas.microsoft.com/office/powerpoint/2010/main" val="1854815619"/>
      </p:ext>
    </p:extLst>
  </p:cSld>
</p:sld>
</file>

<file path=ppt/slides/slide3.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0FEE50C-8953-4DBD-9069-0D4680FB9691}"/>
              </a:ext>
            </a:extLst>
          </p:cNvPr>
          <p:cNvSpPr>
            <a:spLocks xmlns:a="http://schemas.openxmlformats.org/drawingml/2006/main" noGrp="1"/>
          </p:cNvSpPr>
          <p:nvPr/>
        </p:nvSpPr>
        <p:spPr>
          <a:xfrm xmlns:a="http://schemas.openxmlformats.org/drawingml/2006/main">
            <a:off x="6477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9D3E6"/>
                </a:solidFill>
              </a:defRPr>
            </a:defPPr>
          </a:lstStyle>
          <a:p xmlns:a="http://schemas.openxmlformats.org/drawingml/2006/main">
            <a:pPr>
              <a:defRPr sz="975" b="1">
                <a:solidFill>
                  <a:srgbClr val="19D3E6"/>
                </a:solidFill>
              </a:defRPr>
            </a:pPr>
            <a:r>
              <a:rPr sz="975" b="1">
                <a:solidFill>
                  <a:srgbClr val="19D3E6"/>
                </a:solidFill>
              </a:rPr>
              <a:t>02 · NGUYÊN LÝ</a:t>
            </a:r>
          </a:p>
        </p:txBody>
      </p:sp>
      <p:sp>
        <p:nvSpPr>
          <p:cNvPr id="2" name="">
            <a:extLst xmlns:a="http://schemas.openxmlformats.org/drawingml/2006/main">
              <a:ext uri="{FF2B5EF4-FFF2-40B4-BE49-F238E27FC236}">
                <a16:creationId xmlns:a16="http://schemas.microsoft.com/office/drawing/2014/main" id="{EC0B25B7-A3F7-4DFB-B496-97F93D6D955B}"/>
              </a:ext>
            </a:extLst>
          </p:cNvPr>
          <p:cNvSpPr>
            <a:spLocks xmlns:a="http://schemas.openxmlformats.org/drawingml/2006/main" noGrp="1"/>
          </p:cNvSpPr>
          <p:nvPr/>
        </p:nvSpPr>
        <p:spPr>
          <a:xfrm xmlns:a="http://schemas.openxmlformats.org/drawingml/2006/main">
            <a:off x="647700" y="6096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6FBFF"/>
                </a:solidFill>
              </a:defRPr>
            </a:defPPr>
          </a:lstStyle>
          <a:p xmlns:a="http://schemas.openxmlformats.org/drawingml/2006/main">
            <a:pPr>
              <a:defRPr sz="2550" b="1">
                <a:solidFill>
                  <a:srgbClr val="F6FBFF"/>
                </a:solidFill>
              </a:defRPr>
            </a:pPr>
            <a:r>
              <a:rPr sz="2550" b="1">
                <a:solidFill>
                  <a:srgbClr val="F6FBFF"/>
                </a:solidFill>
              </a:rPr>
              <a:t>Từ gradient đến ảnh biên</a:t>
            </a:r>
          </a:p>
        </p:txBody>
      </p:sp>
      <p:sp>
        <p:nvSpPr>
          <p:cNvPr id="3" name="">
            <a:extLst xmlns:a="http://schemas.openxmlformats.org/drawingml/2006/main">
              <a:ext uri="{FF2B5EF4-FFF2-40B4-BE49-F238E27FC236}">
                <a16:creationId xmlns:a16="http://schemas.microsoft.com/office/drawing/2014/main" id="{7D24745C-06BE-4E7C-AB48-77185569D245}"/>
              </a:ext>
            </a:extLst>
          </p:cNvPr>
          <p:cNvSpPr>
            <a:spLocks xmlns:a="http://schemas.openxmlformats.org/drawingml/2006/main" noGrp="1"/>
          </p:cNvSpPr>
          <p:nvPr/>
        </p:nvSpPr>
        <p:spPr>
          <a:xfrm xmlns:a="http://schemas.openxmlformats.org/drawingml/2006/main">
            <a:off x="647700" y="1181100"/>
            <a:ext cx="85725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86B05C-D52D-4878-A535-C1D999EB4867}"/>
              </a:ext>
            </a:extLst>
          </p:cNvPr>
          <p:cNvSpPr>
            <a:spLocks xmlns:a="http://schemas.openxmlformats.org/drawingml/2006/main" noGrp="1"/>
          </p:cNvSpPr>
          <p:nvPr/>
        </p:nvSpPr>
        <p:spPr>
          <a:xfrm xmlns:a="http://schemas.openxmlformats.org/drawingml/2006/main">
            <a:off x="11239500" y="323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BDCC"/>
                </a:solidFill>
              </a:defRPr>
            </a:defPPr>
          </a:lstStyle>
          <a:p xmlns:a="http://schemas.openxmlformats.org/drawingml/2006/main">
            <a:pPr>
              <a:defRPr sz="1050" b="1">
                <a:solidFill>
                  <a:srgbClr val="A9BDCC"/>
                </a:solidFill>
              </a:defRPr>
            </a:pPr>
            <a:r>
              <a:rPr sz="1050" b="1">
                <a:solidFill>
                  <a:srgbClr val="A9BDCC"/>
                </a:solidFill>
              </a:rPr>
              <a:t>03</a:t>
            </a:r>
          </a:p>
        </p:txBody>
      </p:sp>
      <p:sp>
        <p:nvSpPr>
          <p:cNvPr id="5" name="">
            <a:extLst xmlns:a="http://schemas.openxmlformats.org/drawingml/2006/main">
              <a:ext uri="{FF2B5EF4-FFF2-40B4-BE49-F238E27FC236}">
                <a16:creationId xmlns:a16="http://schemas.microsoft.com/office/drawing/2014/main" id="{1D314884-7368-41DB-8D14-005F124C2848}"/>
              </a:ext>
            </a:extLst>
          </p:cNvPr>
          <p:cNvSpPr>
            <a:spLocks xmlns:a="http://schemas.openxmlformats.org/drawingml/2006/main" noGrp="1"/>
          </p:cNvSpPr>
          <p:nvPr/>
        </p:nvSpPr>
        <p:spPr>
          <a:xfrm xmlns:a="http://schemas.openxmlformats.org/drawingml/2006/main">
            <a:off x="647700" y="1485900"/>
            <a:ext cx="1085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F6FBFF"/>
                </a:solidFill>
              </a:defRPr>
            </a:defPPr>
          </a:lstStyle>
          <a:p xmlns:a="http://schemas.openxmlformats.org/drawingml/2006/main">
            <a:pPr>
              <a:defRPr sz="1425">
                <a:solidFill>
                  <a:srgbClr val="F6FBFF"/>
                </a:solidFill>
              </a:defRPr>
            </a:pPr>
            <a:r>
              <a:rPr sz="1425">
                <a:solidFill>
                  <a:srgbClr val="F6FBFF"/>
                </a:solidFill>
              </a:rPr>
              <a:t>Các thuật toán khác nhau ở cách xấp xỉ đạo hàm, giảm nhiễu và chọn điểm biên. Canny phù hợp để minh họa vì có pipeline rõ ràng và thường cho đường biên mảnh.</a:t>
            </a:r>
          </a:p>
        </p:txBody>
      </p:sp>
      <p:sp>
        <p:nvSpPr>
          <p:cNvPr id="6" name="">
            <a:extLst xmlns:a="http://schemas.openxmlformats.org/drawingml/2006/main">
              <a:ext uri="{FF2B5EF4-FFF2-40B4-BE49-F238E27FC236}">
                <a16:creationId xmlns:a16="http://schemas.microsoft.com/office/drawing/2014/main" id="{0280B4AC-3069-4E44-9493-F930B2F27EE8}"/>
              </a:ext>
            </a:extLst>
          </p:cNvPr>
          <p:cNvSpPr>
            <a:spLocks xmlns:a="http://schemas.openxmlformats.org/drawingml/2006/main" noGrp="1"/>
          </p:cNvSpPr>
          <p:nvPr/>
        </p:nvSpPr>
        <p:spPr>
          <a:xfrm xmlns:a="http://schemas.openxmlformats.org/drawingml/2006/main">
            <a:off x="685800" y="2476500"/>
            <a:ext cx="1857375" cy="1181100"/>
          </a:xfrm>
          <a:prstGeom xmlns:a="http://schemas.openxmlformats.org/drawingml/2006/main" prst="roundRect">
            <a:avLst>
              <a:gd name="adj" fmla="val 9677"/>
            </a:avLst>
          </a:prstGeom>
          <a:solidFill xmlns:a="http://schemas.openxmlformats.org/drawingml/2006/main">
            <a:srgbClr val="102C46"/>
          </a:solidFill>
          <a:ln xmlns:a="http://schemas.openxmlformats.org/drawingml/2006/main" w="9525">
            <a:solidFill>
              <a:srgbClr val="19D3E6"/>
            </a:solidFill>
            <a:prstDash val="solid"/>
          </a:ln>
        </p:spPr>
      </p:sp>
      <p:sp>
        <p:nvSpPr>
          <p:cNvPr id="7" name="">
            <a:extLst xmlns:a="http://schemas.openxmlformats.org/drawingml/2006/main">
              <a:ext uri="{FF2B5EF4-FFF2-40B4-BE49-F238E27FC236}">
                <a16:creationId xmlns:a16="http://schemas.microsoft.com/office/drawing/2014/main" id="{8F727F59-463E-4277-90B9-2D70920F96BB}"/>
              </a:ext>
            </a:extLst>
          </p:cNvPr>
          <p:cNvSpPr>
            <a:spLocks xmlns:a="http://schemas.openxmlformats.org/drawingml/2006/main" noGrp="1"/>
          </p:cNvSpPr>
          <p:nvPr/>
        </p:nvSpPr>
        <p:spPr>
          <a:xfrm xmlns:a="http://schemas.openxmlformats.org/drawingml/2006/main">
            <a:off x="857250" y="2628900"/>
            <a:ext cx="1514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9D3E6"/>
                </a:solidFill>
              </a:defRPr>
            </a:defPPr>
          </a:lstStyle>
          <a:p xmlns:a="http://schemas.openxmlformats.org/drawingml/2006/main">
            <a:pPr>
              <a:defRPr sz="1350" b="1">
                <a:solidFill>
                  <a:srgbClr val="19D3E6"/>
                </a:solidFill>
              </a:defRPr>
            </a:pPr>
            <a:r>
              <a:rPr sz="1350" b="1">
                <a:solidFill>
                  <a:srgbClr val="19D3E6"/>
                </a:solidFill>
              </a:rPr>
              <a:t>Sobel</a:t>
            </a:r>
          </a:p>
        </p:txBody>
      </p:sp>
      <p:sp>
        <p:nvSpPr>
          <p:cNvPr id="8" name="">
            <a:extLst xmlns:a="http://schemas.openxmlformats.org/drawingml/2006/main">
              <a:ext uri="{FF2B5EF4-FFF2-40B4-BE49-F238E27FC236}">
                <a16:creationId xmlns:a16="http://schemas.microsoft.com/office/drawing/2014/main" id="{E8A12377-833F-4F4A-B19A-373A99275A86}"/>
              </a:ext>
            </a:extLst>
          </p:cNvPr>
          <p:cNvSpPr>
            <a:spLocks xmlns:a="http://schemas.openxmlformats.org/drawingml/2006/main" noGrp="1"/>
          </p:cNvSpPr>
          <p:nvPr/>
        </p:nvSpPr>
        <p:spPr>
          <a:xfrm xmlns:a="http://schemas.openxmlformats.org/drawingml/2006/main">
            <a:off x="857250" y="2952750"/>
            <a:ext cx="15144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F6FBFF"/>
                </a:solidFill>
              </a:defRPr>
            </a:defPPr>
          </a:lstStyle>
          <a:p xmlns:a="http://schemas.openxmlformats.org/drawingml/2006/main">
            <a:pPr>
              <a:lnSpc>
                <a:spcPct val="108000"/>
              </a:lnSpc>
              <a:buNone/>
              <a:defRPr sz="1200">
                <a:solidFill>
                  <a:srgbClr val="F6FBFF"/>
                </a:solidFill>
              </a:defRPr>
            </a:pPr>
            <a:r>
              <a:rPr sz="1200">
                <a:solidFill>
                  <a:srgbClr val="F6FBFF"/>
                </a:solidFill>
              </a:rPr>
              <a:t>Đạo hàm bậc nhất theo x, y; nhanh và dễ hiểu.</a:t>
            </a:r>
          </a:p>
        </p:txBody>
      </p:sp>
      <p:sp>
        <p:nvSpPr>
          <p:cNvPr id="9" name="">
            <a:extLst xmlns:a="http://schemas.openxmlformats.org/drawingml/2006/main">
              <a:ext uri="{FF2B5EF4-FFF2-40B4-BE49-F238E27FC236}">
                <a16:creationId xmlns:a16="http://schemas.microsoft.com/office/drawing/2014/main" id="{62790F58-2845-4909-B31C-7C956A8633DA}"/>
              </a:ext>
            </a:extLst>
          </p:cNvPr>
          <p:cNvSpPr>
            <a:spLocks xmlns:a="http://schemas.openxmlformats.org/drawingml/2006/main" noGrp="1"/>
          </p:cNvSpPr>
          <p:nvPr/>
        </p:nvSpPr>
        <p:spPr>
          <a:xfrm xmlns:a="http://schemas.openxmlformats.org/drawingml/2006/main">
            <a:off x="2771775" y="2476500"/>
            <a:ext cx="1857375" cy="1181100"/>
          </a:xfrm>
          <a:prstGeom xmlns:a="http://schemas.openxmlformats.org/drawingml/2006/main" prst="roundRect">
            <a:avLst>
              <a:gd name="adj" fmla="val 9677"/>
            </a:avLst>
          </a:prstGeom>
          <a:solidFill xmlns:a="http://schemas.openxmlformats.org/drawingml/2006/main">
            <a:srgbClr val="102C46"/>
          </a:solidFill>
          <a:ln xmlns:a="http://schemas.openxmlformats.org/drawingml/2006/main" w="9525">
            <a:solidFill>
              <a:srgbClr val="8FEAF2"/>
            </a:solidFill>
            <a:prstDash val="solid"/>
          </a:ln>
        </p:spPr>
      </p:sp>
      <p:sp>
        <p:nvSpPr>
          <p:cNvPr id="10" name="">
            <a:extLst xmlns:a="http://schemas.openxmlformats.org/drawingml/2006/main">
              <a:ext uri="{FF2B5EF4-FFF2-40B4-BE49-F238E27FC236}">
                <a16:creationId xmlns:a16="http://schemas.microsoft.com/office/drawing/2014/main" id="{1B06D484-C645-485B-9AEE-473101626D2D}"/>
              </a:ext>
            </a:extLst>
          </p:cNvPr>
          <p:cNvSpPr>
            <a:spLocks xmlns:a="http://schemas.openxmlformats.org/drawingml/2006/main" noGrp="1"/>
          </p:cNvSpPr>
          <p:nvPr/>
        </p:nvSpPr>
        <p:spPr>
          <a:xfrm xmlns:a="http://schemas.openxmlformats.org/drawingml/2006/main">
            <a:off x="2943225" y="2628900"/>
            <a:ext cx="1514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8FEAF2"/>
                </a:solidFill>
              </a:defRPr>
            </a:defPPr>
          </a:lstStyle>
          <a:p xmlns:a="http://schemas.openxmlformats.org/drawingml/2006/main">
            <a:pPr>
              <a:defRPr sz="1350" b="1">
                <a:solidFill>
                  <a:srgbClr val="8FEAF2"/>
                </a:solidFill>
              </a:defRPr>
            </a:pPr>
            <a:r>
              <a:rPr sz="1350" b="1">
                <a:solidFill>
                  <a:srgbClr val="8FEAF2"/>
                </a:solidFill>
              </a:rPr>
              <a:t>Prewitt</a:t>
            </a:r>
          </a:p>
        </p:txBody>
      </p:sp>
      <p:sp>
        <p:nvSpPr>
          <p:cNvPr id="11" name="">
            <a:extLst xmlns:a="http://schemas.openxmlformats.org/drawingml/2006/main">
              <a:ext uri="{FF2B5EF4-FFF2-40B4-BE49-F238E27FC236}">
                <a16:creationId xmlns:a16="http://schemas.microsoft.com/office/drawing/2014/main" id="{422DEC32-5B64-4B6C-BB96-55E99B600A0C}"/>
              </a:ext>
            </a:extLst>
          </p:cNvPr>
          <p:cNvSpPr>
            <a:spLocks xmlns:a="http://schemas.openxmlformats.org/drawingml/2006/main" noGrp="1"/>
          </p:cNvSpPr>
          <p:nvPr/>
        </p:nvSpPr>
        <p:spPr>
          <a:xfrm xmlns:a="http://schemas.openxmlformats.org/drawingml/2006/main">
            <a:off x="2943225" y="2952750"/>
            <a:ext cx="15144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F6FBFF"/>
                </a:solidFill>
              </a:defRPr>
            </a:defPPr>
          </a:lstStyle>
          <a:p xmlns:a="http://schemas.openxmlformats.org/drawingml/2006/main">
            <a:pPr>
              <a:lnSpc>
                <a:spcPct val="108000"/>
              </a:lnSpc>
              <a:buNone/>
              <a:defRPr sz="1200">
                <a:solidFill>
                  <a:srgbClr val="F6FBFF"/>
                </a:solidFill>
              </a:defRPr>
            </a:pPr>
            <a:r>
              <a:rPr sz="1200">
                <a:solidFill>
                  <a:srgbClr val="F6FBFF"/>
                </a:solidFill>
              </a:rPr>
              <a:t>Kernel đơn giản; nhạy với nhiễu hơn khi chưa làm mượt.</a:t>
            </a:r>
          </a:p>
        </p:txBody>
      </p:sp>
      <p:sp>
        <p:nvSpPr>
          <p:cNvPr id="12" name="">
            <a:extLst xmlns:a="http://schemas.openxmlformats.org/drawingml/2006/main">
              <a:ext uri="{FF2B5EF4-FFF2-40B4-BE49-F238E27FC236}">
                <a16:creationId xmlns:a16="http://schemas.microsoft.com/office/drawing/2014/main" id="{633B8353-EFDC-4816-BA7C-D320E41E4EA1}"/>
              </a:ext>
            </a:extLst>
          </p:cNvPr>
          <p:cNvSpPr>
            <a:spLocks xmlns:a="http://schemas.openxmlformats.org/drawingml/2006/main" noGrp="1"/>
          </p:cNvSpPr>
          <p:nvPr/>
        </p:nvSpPr>
        <p:spPr>
          <a:xfrm xmlns:a="http://schemas.openxmlformats.org/drawingml/2006/main">
            <a:off x="4857750" y="2476500"/>
            <a:ext cx="1857375" cy="1181100"/>
          </a:xfrm>
          <a:prstGeom xmlns:a="http://schemas.openxmlformats.org/drawingml/2006/main" prst="roundRect">
            <a:avLst>
              <a:gd name="adj" fmla="val 9677"/>
            </a:avLst>
          </a:prstGeom>
          <a:solidFill xmlns:a="http://schemas.openxmlformats.org/drawingml/2006/main">
            <a:srgbClr val="102C46"/>
          </a:solidFill>
          <a:ln xmlns:a="http://schemas.openxmlformats.org/drawingml/2006/main" w="9525">
            <a:solidFill>
              <a:srgbClr val="F5C56B"/>
            </a:solidFill>
            <a:prstDash val="solid"/>
          </a:ln>
        </p:spPr>
      </p:sp>
      <p:sp>
        <p:nvSpPr>
          <p:cNvPr id="13" name="">
            <a:extLst xmlns:a="http://schemas.openxmlformats.org/drawingml/2006/main">
              <a:ext uri="{FF2B5EF4-FFF2-40B4-BE49-F238E27FC236}">
                <a16:creationId xmlns:a16="http://schemas.microsoft.com/office/drawing/2014/main" id="{1DA73230-1E25-444A-89DE-B7EF90196934}"/>
              </a:ext>
            </a:extLst>
          </p:cNvPr>
          <p:cNvSpPr>
            <a:spLocks xmlns:a="http://schemas.openxmlformats.org/drawingml/2006/main" noGrp="1"/>
          </p:cNvSpPr>
          <p:nvPr/>
        </p:nvSpPr>
        <p:spPr>
          <a:xfrm xmlns:a="http://schemas.openxmlformats.org/drawingml/2006/main">
            <a:off x="5029200" y="2628900"/>
            <a:ext cx="1514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5C56B"/>
                </a:solidFill>
              </a:defRPr>
            </a:defPPr>
          </a:lstStyle>
          <a:p xmlns:a="http://schemas.openxmlformats.org/drawingml/2006/main">
            <a:pPr>
              <a:defRPr sz="1350" b="1">
                <a:solidFill>
                  <a:srgbClr val="F5C56B"/>
                </a:solidFill>
              </a:defRPr>
            </a:pPr>
            <a:r>
              <a:rPr sz="1350" b="1">
                <a:solidFill>
                  <a:srgbClr val="F5C56B"/>
                </a:solidFill>
              </a:rPr>
              <a:t>Laplacian</a:t>
            </a:r>
          </a:p>
        </p:txBody>
      </p:sp>
      <p:sp>
        <p:nvSpPr>
          <p:cNvPr id="14" name="">
            <a:extLst xmlns:a="http://schemas.openxmlformats.org/drawingml/2006/main">
              <a:ext uri="{FF2B5EF4-FFF2-40B4-BE49-F238E27FC236}">
                <a16:creationId xmlns:a16="http://schemas.microsoft.com/office/drawing/2014/main" id="{DFC58665-15FB-4EC8-97CA-FDE8BC8BCDFC}"/>
              </a:ext>
            </a:extLst>
          </p:cNvPr>
          <p:cNvSpPr>
            <a:spLocks xmlns:a="http://schemas.openxmlformats.org/drawingml/2006/main" noGrp="1"/>
          </p:cNvSpPr>
          <p:nvPr/>
        </p:nvSpPr>
        <p:spPr>
          <a:xfrm xmlns:a="http://schemas.openxmlformats.org/drawingml/2006/main">
            <a:off x="5029200" y="2952750"/>
            <a:ext cx="15144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F6FBFF"/>
                </a:solidFill>
              </a:defRPr>
            </a:defPPr>
          </a:lstStyle>
          <a:p xmlns:a="http://schemas.openxmlformats.org/drawingml/2006/main">
            <a:pPr>
              <a:lnSpc>
                <a:spcPct val="108000"/>
              </a:lnSpc>
              <a:buNone/>
              <a:defRPr sz="1200">
                <a:solidFill>
                  <a:srgbClr val="F6FBFF"/>
                </a:solidFill>
              </a:defRPr>
            </a:pPr>
            <a:r>
              <a:rPr sz="1200">
                <a:solidFill>
                  <a:srgbClr val="F6FBFF"/>
                </a:solidFill>
              </a:rPr>
              <a:t>Đạo hàm bậc hai; bắt zero-crossing nhưng dễ nhiễu.</a:t>
            </a:r>
          </a:p>
        </p:txBody>
      </p:sp>
      <p:sp>
        <p:nvSpPr>
          <p:cNvPr id="15" name="">
            <a:extLst xmlns:a="http://schemas.openxmlformats.org/drawingml/2006/main">
              <a:ext uri="{FF2B5EF4-FFF2-40B4-BE49-F238E27FC236}">
                <a16:creationId xmlns:a16="http://schemas.microsoft.com/office/drawing/2014/main" id="{59E73FA0-FA58-404C-969A-EB71CB0F9D0B}"/>
              </a:ext>
            </a:extLst>
          </p:cNvPr>
          <p:cNvSpPr>
            <a:spLocks xmlns:a="http://schemas.openxmlformats.org/drawingml/2006/main" noGrp="1"/>
          </p:cNvSpPr>
          <p:nvPr/>
        </p:nvSpPr>
        <p:spPr>
          <a:xfrm xmlns:a="http://schemas.openxmlformats.org/drawingml/2006/main">
            <a:off x="6943725" y="2476500"/>
            <a:ext cx="1857375" cy="1181100"/>
          </a:xfrm>
          <a:prstGeom xmlns:a="http://schemas.openxmlformats.org/drawingml/2006/main" prst="roundRect">
            <a:avLst>
              <a:gd name="adj" fmla="val 9677"/>
            </a:avLst>
          </a:prstGeom>
          <a:solidFill xmlns:a="http://schemas.openxmlformats.org/drawingml/2006/main">
            <a:srgbClr val="102C46"/>
          </a:solidFill>
          <a:ln xmlns:a="http://schemas.openxmlformats.org/drawingml/2006/main" w="9525">
            <a:solidFill>
              <a:srgbClr val="57D0A4"/>
            </a:solidFill>
            <a:prstDash val="solid"/>
          </a:ln>
        </p:spPr>
      </p:sp>
      <p:sp>
        <p:nvSpPr>
          <p:cNvPr id="16" name="">
            <a:extLst xmlns:a="http://schemas.openxmlformats.org/drawingml/2006/main">
              <a:ext uri="{FF2B5EF4-FFF2-40B4-BE49-F238E27FC236}">
                <a16:creationId xmlns:a16="http://schemas.microsoft.com/office/drawing/2014/main" id="{870B512E-959A-417F-AF9F-EBA762AA6E95}"/>
              </a:ext>
            </a:extLst>
          </p:cNvPr>
          <p:cNvSpPr>
            <a:spLocks xmlns:a="http://schemas.openxmlformats.org/drawingml/2006/main" noGrp="1"/>
          </p:cNvSpPr>
          <p:nvPr/>
        </p:nvSpPr>
        <p:spPr>
          <a:xfrm xmlns:a="http://schemas.openxmlformats.org/drawingml/2006/main">
            <a:off x="7115175" y="2628900"/>
            <a:ext cx="1514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7D0A4"/>
                </a:solidFill>
              </a:defRPr>
            </a:defPPr>
          </a:lstStyle>
          <a:p xmlns:a="http://schemas.openxmlformats.org/drawingml/2006/main">
            <a:pPr>
              <a:defRPr sz="1350" b="1">
                <a:solidFill>
                  <a:srgbClr val="57D0A4"/>
                </a:solidFill>
              </a:defRPr>
            </a:pPr>
            <a:r>
              <a:rPr sz="1350" b="1">
                <a:solidFill>
                  <a:srgbClr val="57D0A4"/>
                </a:solidFill>
              </a:rPr>
              <a:t>Canny</a:t>
            </a:r>
          </a:p>
        </p:txBody>
      </p:sp>
      <p:sp>
        <p:nvSpPr>
          <p:cNvPr id="17" name="">
            <a:extLst xmlns:a="http://schemas.openxmlformats.org/drawingml/2006/main">
              <a:ext uri="{FF2B5EF4-FFF2-40B4-BE49-F238E27FC236}">
                <a16:creationId xmlns:a16="http://schemas.microsoft.com/office/drawing/2014/main" id="{EFCB2E0F-5DB9-4623-B1FD-1A9B6D7717B5}"/>
              </a:ext>
            </a:extLst>
          </p:cNvPr>
          <p:cNvSpPr>
            <a:spLocks xmlns:a="http://schemas.openxmlformats.org/drawingml/2006/main" noGrp="1"/>
          </p:cNvSpPr>
          <p:nvPr/>
        </p:nvSpPr>
        <p:spPr>
          <a:xfrm xmlns:a="http://schemas.openxmlformats.org/drawingml/2006/main">
            <a:off x="7115175" y="2952750"/>
            <a:ext cx="15144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F6FBFF"/>
                </a:solidFill>
              </a:defRPr>
            </a:defPPr>
          </a:lstStyle>
          <a:p xmlns:a="http://schemas.openxmlformats.org/drawingml/2006/main">
            <a:pPr>
              <a:lnSpc>
                <a:spcPct val="108000"/>
              </a:lnSpc>
              <a:buNone/>
              <a:defRPr sz="1200">
                <a:solidFill>
                  <a:srgbClr val="F6FBFF"/>
                </a:solidFill>
              </a:defRPr>
            </a:pPr>
            <a:r>
              <a:rPr sz="1200">
                <a:solidFill>
                  <a:srgbClr val="F6FBFF"/>
                </a:solidFill>
              </a:rPr>
              <a:t>Làm mượt, gradient, non-maximum suppression, hysteresis.</a:t>
            </a:r>
          </a:p>
        </p:txBody>
      </p:sp>
      <p:sp>
        <p:nvSpPr>
          <p:cNvPr id="18" name="">
            <a:extLst xmlns:a="http://schemas.openxmlformats.org/drawingml/2006/main">
              <a:ext uri="{FF2B5EF4-FFF2-40B4-BE49-F238E27FC236}">
                <a16:creationId xmlns:a16="http://schemas.microsoft.com/office/drawing/2014/main" id="{C71748BF-04E8-4B5C-A477-319B17BE29D1}"/>
              </a:ext>
            </a:extLst>
          </p:cNvPr>
          <p:cNvSpPr>
            <a:spLocks xmlns:a="http://schemas.openxmlformats.org/drawingml/2006/main" noGrp="1"/>
          </p:cNvSpPr>
          <p:nvPr/>
        </p:nvSpPr>
        <p:spPr>
          <a:xfrm xmlns:a="http://schemas.openxmlformats.org/drawingml/2006/main">
            <a:off x="9048750" y="2476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9D3E6"/>
                </a:solidFill>
              </a:defRPr>
            </a:defPPr>
          </a:lstStyle>
          <a:p xmlns:a="http://schemas.openxmlformats.org/drawingml/2006/main">
            <a:pPr>
              <a:defRPr sz="1275" b="1">
                <a:solidFill>
                  <a:srgbClr val="19D3E6"/>
                </a:solidFill>
              </a:defRPr>
            </a:pPr>
            <a:r>
              <a:rPr sz="1275" b="1">
                <a:solidFill>
                  <a:srgbClr val="19D3E6"/>
                </a:solidFill>
              </a:rPr>
              <a:t>Lựa chọn minh họa</a:t>
            </a:r>
          </a:p>
        </p:txBody>
      </p:sp>
      <p:sp>
        <p:nvSpPr>
          <p:cNvPr id="19" name="">
            <a:extLst xmlns:a="http://schemas.openxmlformats.org/drawingml/2006/main">
              <a:ext uri="{FF2B5EF4-FFF2-40B4-BE49-F238E27FC236}">
                <a16:creationId xmlns:a16="http://schemas.microsoft.com/office/drawing/2014/main" id="{B90598D6-D799-4805-958B-E1F295212F7E}"/>
              </a:ext>
            </a:extLst>
          </p:cNvPr>
          <p:cNvSpPr>
            <a:spLocks xmlns:a="http://schemas.openxmlformats.org/drawingml/2006/main" noGrp="1"/>
          </p:cNvSpPr>
          <p:nvPr/>
        </p:nvSpPr>
        <p:spPr>
          <a:xfrm xmlns:a="http://schemas.openxmlformats.org/drawingml/2006/main">
            <a:off x="9048750" y="2857500"/>
            <a:ext cx="228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F6FBFF"/>
                </a:solidFill>
              </a:defRPr>
            </a:defPPr>
          </a:lstStyle>
          <a:p xmlns:a="http://schemas.openxmlformats.org/drawingml/2006/main">
            <a:pPr>
              <a:lnSpc>
                <a:spcPct val="118000"/>
              </a:lnSpc>
              <a:buNone/>
              <a:defRPr sz="1275">
                <a:solidFill>
                  <a:srgbClr val="F6FBFF"/>
                </a:solidFill>
              </a:defRPr>
            </a:pPr>
            <a:r>
              <a:rPr sz="1275">
                <a:solidFill>
                  <a:srgbClr val="F6FBFF"/>
                </a:solidFill>
              </a:rPr>
              <a:t>Canny</a:t>
            </a:r>
          </a:p>
          <a:p xmlns:a="http://schemas.openxmlformats.org/drawingml/2006/main">
            <a:pPr>
              <a:lnSpc>
                <a:spcPct val="118000"/>
              </a:lnSpc>
              <a:buNone/>
              <a:defRPr sz="1275">
                <a:solidFill>
                  <a:srgbClr val="F6FBFF"/>
                </a:solidFill>
              </a:defRPr>
            </a:pPr>
            <a:r>
              <a:rPr sz="1275">
                <a:solidFill>
                  <a:srgbClr val="F6FBFF"/>
                </a:solidFill>
              </a:rPr>
              <a:t>• đường biên mảnh</a:t>
            </a:r>
          </a:p>
          <a:p xmlns:a="http://schemas.openxmlformats.org/drawingml/2006/main">
            <a:pPr>
              <a:lnSpc>
                <a:spcPct val="118000"/>
              </a:lnSpc>
              <a:buNone/>
              <a:defRPr sz="1275">
                <a:solidFill>
                  <a:srgbClr val="F6FBFF"/>
                </a:solidFill>
              </a:defRPr>
            </a:pPr>
            <a:r>
              <a:rPr sz="1275">
                <a:solidFill>
                  <a:srgbClr val="F6FBFF"/>
                </a:solidFill>
              </a:rPr>
              <a:t>• có hai ngưỡng</a:t>
            </a:r>
          </a:p>
          <a:p xmlns:a="http://schemas.openxmlformats.org/drawingml/2006/main">
            <a:pPr>
              <a:lnSpc>
                <a:spcPct val="118000"/>
              </a:lnSpc>
              <a:buNone/>
              <a:defRPr sz="1275">
                <a:solidFill>
                  <a:srgbClr val="F6FBFF"/>
                </a:solidFill>
              </a:defRPr>
            </a:pPr>
            <a:r>
              <a:rPr sz="1275">
                <a:solidFill>
                  <a:srgbClr val="F6FBFF"/>
                </a:solidFill>
              </a:rPr>
              <a:t>• dễ triển khai với OpenCV</a:t>
            </a:r>
          </a:p>
        </p:txBody>
      </p:sp>
      <p:sp>
        <p:nvSpPr>
          <p:cNvPr id="20" name="">
            <a:extLst xmlns:a="http://schemas.openxmlformats.org/drawingml/2006/main">
              <a:ext uri="{FF2B5EF4-FFF2-40B4-BE49-F238E27FC236}">
                <a16:creationId xmlns:a16="http://schemas.microsoft.com/office/drawing/2014/main" id="{E561A70A-83F8-477E-ADC4-B241459B9934}"/>
              </a:ext>
            </a:extLst>
          </p:cNvPr>
          <p:cNvSpPr>
            <a:spLocks xmlns:a="http://schemas.openxmlformats.org/drawingml/2006/main" noGrp="1"/>
          </p:cNvSpPr>
          <p:nvPr/>
        </p:nvSpPr>
        <p:spPr>
          <a:xfrm xmlns:a="http://schemas.openxmlformats.org/drawingml/2006/main">
            <a:off x="685800" y="43815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A9BDCC"/>
                </a:solidFill>
              </a:defRPr>
            </a:defPPr>
          </a:lstStyle>
          <a:p xmlns:a="http://schemas.openxmlformats.org/drawingml/2006/main">
            <a:pPr>
              <a:defRPr sz="1200" b="1">
                <a:solidFill>
                  <a:srgbClr val="A9BDCC"/>
                </a:solidFill>
              </a:defRPr>
            </a:pPr>
            <a:r>
              <a:rPr sz="1200" b="1">
                <a:solidFill>
                  <a:srgbClr val="A9BDCC"/>
                </a:solidFill>
              </a:rPr>
              <a:t>Pipeline Canny</a:t>
            </a:r>
          </a:p>
        </p:txBody>
      </p:sp>
      <p:sp>
        <p:nvSpPr>
          <p:cNvPr id="21" name="">
            <a:extLst xmlns:a="http://schemas.openxmlformats.org/drawingml/2006/main">
              <a:ext uri="{FF2B5EF4-FFF2-40B4-BE49-F238E27FC236}">
                <a16:creationId xmlns:a16="http://schemas.microsoft.com/office/drawing/2014/main" id="{32003CA1-5576-4574-9DA7-F4722C3A89D4}"/>
              </a:ext>
            </a:extLst>
          </p:cNvPr>
          <p:cNvSpPr>
            <a:spLocks xmlns:a="http://schemas.openxmlformats.org/drawingml/2006/main" noGrp="1"/>
          </p:cNvSpPr>
          <p:nvPr/>
        </p:nvSpPr>
        <p:spPr>
          <a:xfrm xmlns:a="http://schemas.openxmlformats.org/drawingml/2006/main">
            <a:off x="685800" y="4895850"/>
            <a:ext cx="1619250" cy="723900"/>
          </a:xfrm>
          <a:prstGeom xmlns:a="http://schemas.openxmlformats.org/drawingml/2006/main" prst="roundRect">
            <a:avLst>
              <a:gd name="adj" fmla="val 10526"/>
            </a:avLst>
          </a:prstGeom>
          <a:solidFill xmlns:a="http://schemas.openxmlformats.org/drawingml/2006/main">
            <a:srgbClr val="102C46"/>
          </a:solidFill>
          <a:ln xmlns:a="http://schemas.openxmlformats.org/drawingml/2006/main" w="9525">
            <a:solidFill>
              <a:srgbClr val="19D3E6"/>
            </a:solidFill>
            <a:prstDash val="solid"/>
          </a:ln>
        </p:spPr>
      </p:sp>
      <p:sp>
        <p:nvSpPr>
          <p:cNvPr id="22" name="">
            <a:extLst xmlns:a="http://schemas.openxmlformats.org/drawingml/2006/main">
              <a:ext uri="{FF2B5EF4-FFF2-40B4-BE49-F238E27FC236}">
                <a16:creationId xmlns:a16="http://schemas.microsoft.com/office/drawing/2014/main" id="{FD10D0BB-9BDE-46F9-9294-3C882BD90EDF}"/>
              </a:ext>
            </a:extLst>
          </p:cNvPr>
          <p:cNvSpPr>
            <a:spLocks xmlns:a="http://schemas.openxmlformats.org/drawingml/2006/main" noGrp="1"/>
          </p:cNvSpPr>
          <p:nvPr/>
        </p:nvSpPr>
        <p:spPr>
          <a:xfrm xmlns:a="http://schemas.openxmlformats.org/drawingml/2006/main">
            <a:off x="800100" y="502920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Ảnh đầu vào</a:t>
            </a:r>
          </a:p>
        </p:txBody>
      </p:sp>
      <p:sp>
        <p:nvSpPr>
          <p:cNvPr id="23" name="">
            <a:extLst xmlns:a="http://schemas.openxmlformats.org/drawingml/2006/main">
              <a:ext uri="{FF2B5EF4-FFF2-40B4-BE49-F238E27FC236}">
                <a16:creationId xmlns:a16="http://schemas.microsoft.com/office/drawing/2014/main" id="{BE2E0AA5-3EA2-4329-8D43-3B557C902ADE}"/>
              </a:ext>
            </a:extLst>
          </p:cNvPr>
          <p:cNvSpPr>
            <a:spLocks xmlns:a="http://schemas.openxmlformats.org/drawingml/2006/main" noGrp="1"/>
          </p:cNvSpPr>
          <p:nvPr/>
        </p:nvSpPr>
        <p:spPr>
          <a:xfrm xmlns:a="http://schemas.openxmlformats.org/drawingml/2006/main">
            <a:off x="800100" y="52768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8FEAF2"/>
                </a:solidFill>
              </a:defRPr>
            </a:defPPr>
          </a:lstStyle>
          <a:p xmlns:a="http://schemas.openxmlformats.org/drawingml/2006/main">
            <a:pPr>
              <a:defRPr sz="975">
                <a:solidFill>
                  <a:srgbClr val="8FEAF2"/>
                </a:solidFill>
              </a:defRPr>
            </a:pPr>
            <a:r>
              <a:rPr sz="975">
                <a:solidFill>
                  <a:srgbClr val="8FEAF2"/>
                </a:solidFill>
              </a:rPr>
              <a:t>phone.jpg</a:t>
            </a:r>
          </a:p>
        </p:txBody>
      </p:sp>
      <p:sp>
        <p:nvSpPr>
          <p:cNvPr id="24" name="">
            <a:extLst xmlns:a="http://schemas.openxmlformats.org/drawingml/2006/main">
              <a:ext uri="{FF2B5EF4-FFF2-40B4-BE49-F238E27FC236}">
                <a16:creationId xmlns:a16="http://schemas.microsoft.com/office/drawing/2014/main" id="{E36F5747-DCCC-4B35-959E-5EDFB186D378}"/>
              </a:ext>
            </a:extLst>
          </p:cNvPr>
          <p:cNvSpPr>
            <a:spLocks xmlns:a="http://schemas.openxmlformats.org/drawingml/2006/main" noGrp="1"/>
          </p:cNvSpPr>
          <p:nvPr/>
        </p:nvSpPr>
        <p:spPr>
          <a:xfrm xmlns:a="http://schemas.openxmlformats.org/drawingml/2006/main">
            <a:off x="2400300" y="5124450"/>
            <a:ext cx="36195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9E10CC9-CF9B-4C57-B298-CBC79F662D65}"/>
              </a:ext>
            </a:extLst>
          </p:cNvPr>
          <p:cNvSpPr>
            <a:spLocks xmlns:a="http://schemas.openxmlformats.org/drawingml/2006/main" noGrp="1"/>
          </p:cNvSpPr>
          <p:nvPr/>
        </p:nvSpPr>
        <p:spPr>
          <a:xfrm xmlns:a="http://schemas.openxmlformats.org/drawingml/2006/main">
            <a:off x="2857500" y="4895850"/>
            <a:ext cx="1619250" cy="723900"/>
          </a:xfrm>
          <a:prstGeom xmlns:a="http://schemas.openxmlformats.org/drawingml/2006/main" prst="roundRect">
            <a:avLst>
              <a:gd name="adj" fmla="val 10526"/>
            </a:avLst>
          </a:prstGeom>
          <a:solidFill xmlns:a="http://schemas.openxmlformats.org/drawingml/2006/main">
            <a:srgbClr val="102C46"/>
          </a:solidFill>
          <a:ln xmlns:a="http://schemas.openxmlformats.org/drawingml/2006/main" w="9525">
            <a:solidFill>
              <a:srgbClr val="19D3E6"/>
            </a:solidFill>
            <a:prstDash val="solid"/>
          </a:ln>
        </p:spPr>
      </p:sp>
      <p:sp>
        <p:nvSpPr>
          <p:cNvPr id="26" name="">
            <a:extLst xmlns:a="http://schemas.openxmlformats.org/drawingml/2006/main">
              <a:ext uri="{FF2B5EF4-FFF2-40B4-BE49-F238E27FC236}">
                <a16:creationId xmlns:a16="http://schemas.microsoft.com/office/drawing/2014/main" id="{D4ED2E0A-B95F-4985-9F9C-BD0FC6E31EA2}"/>
              </a:ext>
            </a:extLst>
          </p:cNvPr>
          <p:cNvSpPr>
            <a:spLocks xmlns:a="http://schemas.openxmlformats.org/drawingml/2006/main" noGrp="1"/>
          </p:cNvSpPr>
          <p:nvPr/>
        </p:nvSpPr>
        <p:spPr>
          <a:xfrm xmlns:a="http://schemas.openxmlformats.org/drawingml/2006/main">
            <a:off x="2971800" y="502920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Ảnh xám</a:t>
            </a:r>
          </a:p>
        </p:txBody>
      </p:sp>
      <p:sp>
        <p:nvSpPr>
          <p:cNvPr id="27" name="">
            <a:extLst xmlns:a="http://schemas.openxmlformats.org/drawingml/2006/main">
              <a:ext uri="{FF2B5EF4-FFF2-40B4-BE49-F238E27FC236}">
                <a16:creationId xmlns:a16="http://schemas.microsoft.com/office/drawing/2014/main" id="{F441202D-C04F-4F23-9D54-649C3A1BF6BE}"/>
              </a:ext>
            </a:extLst>
          </p:cNvPr>
          <p:cNvSpPr>
            <a:spLocks xmlns:a="http://schemas.openxmlformats.org/drawingml/2006/main" noGrp="1"/>
          </p:cNvSpPr>
          <p:nvPr/>
        </p:nvSpPr>
        <p:spPr>
          <a:xfrm xmlns:a="http://schemas.openxmlformats.org/drawingml/2006/main">
            <a:off x="2971800" y="52768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8FEAF2"/>
                </a:solidFill>
              </a:defRPr>
            </a:defPPr>
          </a:lstStyle>
          <a:p xmlns:a="http://schemas.openxmlformats.org/drawingml/2006/main">
            <a:pPr>
              <a:defRPr sz="975">
                <a:solidFill>
                  <a:srgbClr val="8FEAF2"/>
                </a:solidFill>
              </a:defRPr>
            </a:pPr>
            <a:r>
              <a:rPr sz="975">
                <a:solidFill>
                  <a:srgbClr val="8FEAF2"/>
                </a:solidFill>
              </a:rPr>
              <a:t>1 kênh</a:t>
            </a:r>
          </a:p>
        </p:txBody>
      </p:sp>
      <p:sp>
        <p:nvSpPr>
          <p:cNvPr id="28" name="">
            <a:extLst xmlns:a="http://schemas.openxmlformats.org/drawingml/2006/main">
              <a:ext uri="{FF2B5EF4-FFF2-40B4-BE49-F238E27FC236}">
                <a16:creationId xmlns:a16="http://schemas.microsoft.com/office/drawing/2014/main" id="{C0F9857B-DA4E-4A6B-B8A8-E3E95D065828}"/>
              </a:ext>
            </a:extLst>
          </p:cNvPr>
          <p:cNvSpPr>
            <a:spLocks xmlns:a="http://schemas.openxmlformats.org/drawingml/2006/main" noGrp="1"/>
          </p:cNvSpPr>
          <p:nvPr/>
        </p:nvSpPr>
        <p:spPr>
          <a:xfrm xmlns:a="http://schemas.openxmlformats.org/drawingml/2006/main">
            <a:off x="4572000" y="5124450"/>
            <a:ext cx="36195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CCA929A-E219-4EA6-9779-1C7B3EDAF77A}"/>
              </a:ext>
            </a:extLst>
          </p:cNvPr>
          <p:cNvSpPr>
            <a:spLocks xmlns:a="http://schemas.openxmlformats.org/drawingml/2006/main" noGrp="1"/>
          </p:cNvSpPr>
          <p:nvPr/>
        </p:nvSpPr>
        <p:spPr>
          <a:xfrm xmlns:a="http://schemas.openxmlformats.org/drawingml/2006/main">
            <a:off x="5029200" y="4895850"/>
            <a:ext cx="1619250" cy="723900"/>
          </a:xfrm>
          <a:prstGeom xmlns:a="http://schemas.openxmlformats.org/drawingml/2006/main" prst="roundRect">
            <a:avLst>
              <a:gd name="adj" fmla="val 10526"/>
            </a:avLst>
          </a:prstGeom>
          <a:solidFill xmlns:a="http://schemas.openxmlformats.org/drawingml/2006/main">
            <a:srgbClr val="102C46"/>
          </a:solidFill>
          <a:ln xmlns:a="http://schemas.openxmlformats.org/drawingml/2006/main" w="9525">
            <a:solidFill>
              <a:srgbClr val="19D3E6"/>
            </a:solidFill>
            <a:prstDash val="solid"/>
          </a:ln>
        </p:spPr>
      </p:sp>
      <p:sp>
        <p:nvSpPr>
          <p:cNvPr id="30" name="">
            <a:extLst xmlns:a="http://schemas.openxmlformats.org/drawingml/2006/main">
              <a:ext uri="{FF2B5EF4-FFF2-40B4-BE49-F238E27FC236}">
                <a16:creationId xmlns:a16="http://schemas.microsoft.com/office/drawing/2014/main" id="{752C7EB3-C2ED-4EE5-9886-F46C85A9E699}"/>
              </a:ext>
            </a:extLst>
          </p:cNvPr>
          <p:cNvSpPr>
            <a:spLocks xmlns:a="http://schemas.openxmlformats.org/drawingml/2006/main" noGrp="1"/>
          </p:cNvSpPr>
          <p:nvPr/>
        </p:nvSpPr>
        <p:spPr>
          <a:xfrm xmlns:a="http://schemas.openxmlformats.org/drawingml/2006/main">
            <a:off x="5143500" y="502920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Giảm nhiễu</a:t>
            </a:r>
          </a:p>
        </p:txBody>
      </p:sp>
      <p:sp>
        <p:nvSpPr>
          <p:cNvPr id="31" name="">
            <a:extLst xmlns:a="http://schemas.openxmlformats.org/drawingml/2006/main">
              <a:ext uri="{FF2B5EF4-FFF2-40B4-BE49-F238E27FC236}">
                <a16:creationId xmlns:a16="http://schemas.microsoft.com/office/drawing/2014/main" id="{00B0D09F-1DCA-415C-B213-749A40EBFCEF}"/>
              </a:ext>
            </a:extLst>
          </p:cNvPr>
          <p:cNvSpPr>
            <a:spLocks xmlns:a="http://schemas.openxmlformats.org/drawingml/2006/main" noGrp="1"/>
          </p:cNvSpPr>
          <p:nvPr/>
        </p:nvSpPr>
        <p:spPr>
          <a:xfrm xmlns:a="http://schemas.openxmlformats.org/drawingml/2006/main">
            <a:off x="5143500" y="52768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8FEAF2"/>
                </a:solidFill>
              </a:defRPr>
            </a:defPPr>
          </a:lstStyle>
          <a:p xmlns:a="http://schemas.openxmlformats.org/drawingml/2006/main">
            <a:pPr>
              <a:defRPr sz="975">
                <a:solidFill>
                  <a:srgbClr val="8FEAF2"/>
                </a:solidFill>
              </a:defRPr>
            </a:pPr>
            <a:r>
              <a:rPr sz="975">
                <a:solidFill>
                  <a:srgbClr val="8FEAF2"/>
                </a:solidFill>
              </a:rPr>
              <a:t>Gaussian (5×5)</a:t>
            </a:r>
          </a:p>
        </p:txBody>
      </p:sp>
      <p:sp>
        <p:nvSpPr>
          <p:cNvPr id="32" name="">
            <a:extLst xmlns:a="http://schemas.openxmlformats.org/drawingml/2006/main">
              <a:ext uri="{FF2B5EF4-FFF2-40B4-BE49-F238E27FC236}">
                <a16:creationId xmlns:a16="http://schemas.microsoft.com/office/drawing/2014/main" id="{1A6BA5F7-13D6-4424-BACF-E756A7A475C4}"/>
              </a:ext>
            </a:extLst>
          </p:cNvPr>
          <p:cNvSpPr>
            <a:spLocks xmlns:a="http://schemas.openxmlformats.org/drawingml/2006/main" noGrp="1"/>
          </p:cNvSpPr>
          <p:nvPr/>
        </p:nvSpPr>
        <p:spPr>
          <a:xfrm xmlns:a="http://schemas.openxmlformats.org/drawingml/2006/main">
            <a:off x="6743700" y="5124450"/>
            <a:ext cx="36195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3861B3F-6284-4EDC-A1FB-DC443A98BCBB}"/>
              </a:ext>
            </a:extLst>
          </p:cNvPr>
          <p:cNvSpPr>
            <a:spLocks xmlns:a="http://schemas.openxmlformats.org/drawingml/2006/main" noGrp="1"/>
          </p:cNvSpPr>
          <p:nvPr/>
        </p:nvSpPr>
        <p:spPr>
          <a:xfrm xmlns:a="http://schemas.openxmlformats.org/drawingml/2006/main">
            <a:off x="7200900" y="4895850"/>
            <a:ext cx="1619250" cy="723900"/>
          </a:xfrm>
          <a:prstGeom xmlns:a="http://schemas.openxmlformats.org/drawingml/2006/main" prst="roundRect">
            <a:avLst>
              <a:gd name="adj" fmla="val 10526"/>
            </a:avLst>
          </a:prstGeom>
          <a:solidFill xmlns:a="http://schemas.openxmlformats.org/drawingml/2006/main">
            <a:srgbClr val="102C46"/>
          </a:solidFill>
          <a:ln xmlns:a="http://schemas.openxmlformats.org/drawingml/2006/main" w="9525">
            <a:solidFill>
              <a:srgbClr val="19D3E6"/>
            </a:solidFill>
            <a:prstDash val="solid"/>
          </a:ln>
        </p:spPr>
      </p:sp>
      <p:sp>
        <p:nvSpPr>
          <p:cNvPr id="34" name="">
            <a:extLst xmlns:a="http://schemas.openxmlformats.org/drawingml/2006/main">
              <a:ext uri="{FF2B5EF4-FFF2-40B4-BE49-F238E27FC236}">
                <a16:creationId xmlns:a16="http://schemas.microsoft.com/office/drawing/2014/main" id="{ED490212-E767-4CEB-A59C-2019B868AA61}"/>
              </a:ext>
            </a:extLst>
          </p:cNvPr>
          <p:cNvSpPr>
            <a:spLocks xmlns:a="http://schemas.openxmlformats.org/drawingml/2006/main" noGrp="1"/>
          </p:cNvSpPr>
          <p:nvPr/>
        </p:nvSpPr>
        <p:spPr>
          <a:xfrm xmlns:a="http://schemas.openxmlformats.org/drawingml/2006/main">
            <a:off x="7315200" y="502920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Gradient</a:t>
            </a:r>
          </a:p>
        </p:txBody>
      </p:sp>
      <p:sp>
        <p:nvSpPr>
          <p:cNvPr id="35" name="">
            <a:extLst xmlns:a="http://schemas.openxmlformats.org/drawingml/2006/main">
              <a:ext uri="{FF2B5EF4-FFF2-40B4-BE49-F238E27FC236}">
                <a16:creationId xmlns:a16="http://schemas.microsoft.com/office/drawing/2014/main" id="{52C9127D-4AAC-4CE5-BC2A-EEB11367EDE4}"/>
              </a:ext>
            </a:extLst>
          </p:cNvPr>
          <p:cNvSpPr>
            <a:spLocks xmlns:a="http://schemas.openxmlformats.org/drawingml/2006/main" noGrp="1"/>
          </p:cNvSpPr>
          <p:nvPr/>
        </p:nvSpPr>
        <p:spPr>
          <a:xfrm xmlns:a="http://schemas.openxmlformats.org/drawingml/2006/main">
            <a:off x="7315200" y="52768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8FEAF2"/>
                </a:solidFill>
              </a:defRPr>
            </a:defPPr>
          </a:lstStyle>
          <a:p xmlns:a="http://schemas.openxmlformats.org/drawingml/2006/main">
            <a:pPr>
              <a:defRPr sz="975">
                <a:solidFill>
                  <a:srgbClr val="8FEAF2"/>
                </a:solidFill>
              </a:defRPr>
            </a:pPr>
            <a:r>
              <a:rPr sz="975">
                <a:solidFill>
                  <a:srgbClr val="8FEAF2"/>
                </a:solidFill>
              </a:rPr>
              <a:t>độ lớn + hướng</a:t>
            </a:r>
          </a:p>
        </p:txBody>
      </p:sp>
      <p:sp>
        <p:nvSpPr>
          <p:cNvPr id="36" name="">
            <a:extLst xmlns:a="http://schemas.openxmlformats.org/drawingml/2006/main">
              <a:ext uri="{FF2B5EF4-FFF2-40B4-BE49-F238E27FC236}">
                <a16:creationId xmlns:a16="http://schemas.microsoft.com/office/drawing/2014/main" id="{4D3B80C9-7B44-4818-BD20-BA133E22144A}"/>
              </a:ext>
            </a:extLst>
          </p:cNvPr>
          <p:cNvSpPr>
            <a:spLocks xmlns:a="http://schemas.openxmlformats.org/drawingml/2006/main" noGrp="1"/>
          </p:cNvSpPr>
          <p:nvPr/>
        </p:nvSpPr>
        <p:spPr>
          <a:xfrm xmlns:a="http://schemas.openxmlformats.org/drawingml/2006/main">
            <a:off x="8915400" y="5124450"/>
            <a:ext cx="36195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2FFC3C9-B531-49A0-A1D7-D249ACA4463D}"/>
              </a:ext>
            </a:extLst>
          </p:cNvPr>
          <p:cNvSpPr>
            <a:spLocks xmlns:a="http://schemas.openxmlformats.org/drawingml/2006/main" noGrp="1"/>
          </p:cNvSpPr>
          <p:nvPr/>
        </p:nvSpPr>
        <p:spPr>
          <a:xfrm xmlns:a="http://schemas.openxmlformats.org/drawingml/2006/main">
            <a:off x="9372600" y="4895850"/>
            <a:ext cx="1619250" cy="723900"/>
          </a:xfrm>
          <a:prstGeom xmlns:a="http://schemas.openxmlformats.org/drawingml/2006/main" prst="roundRect">
            <a:avLst>
              <a:gd name="adj" fmla="val 10526"/>
            </a:avLst>
          </a:prstGeom>
          <a:solidFill xmlns:a="http://schemas.openxmlformats.org/drawingml/2006/main">
            <a:srgbClr val="102C46"/>
          </a:solidFill>
          <a:ln xmlns:a="http://schemas.openxmlformats.org/drawingml/2006/main" w="9525">
            <a:solidFill>
              <a:srgbClr val="19D3E6"/>
            </a:solidFill>
            <a:prstDash val="solid"/>
          </a:ln>
        </p:spPr>
      </p:sp>
      <p:sp>
        <p:nvSpPr>
          <p:cNvPr id="38" name="">
            <a:extLst xmlns:a="http://schemas.openxmlformats.org/drawingml/2006/main">
              <a:ext uri="{FF2B5EF4-FFF2-40B4-BE49-F238E27FC236}">
                <a16:creationId xmlns:a16="http://schemas.microsoft.com/office/drawing/2014/main" id="{C0C8F1DC-ACC4-4153-BA31-7F3A803253BA}"/>
              </a:ext>
            </a:extLst>
          </p:cNvPr>
          <p:cNvSpPr>
            <a:spLocks xmlns:a="http://schemas.openxmlformats.org/drawingml/2006/main" noGrp="1"/>
          </p:cNvSpPr>
          <p:nvPr/>
        </p:nvSpPr>
        <p:spPr>
          <a:xfrm xmlns:a="http://schemas.openxmlformats.org/drawingml/2006/main">
            <a:off x="9486900" y="502920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Ảnh biên</a:t>
            </a:r>
          </a:p>
        </p:txBody>
      </p:sp>
      <p:sp>
        <p:nvSpPr>
          <p:cNvPr id="39" name="">
            <a:extLst xmlns:a="http://schemas.openxmlformats.org/drawingml/2006/main">
              <a:ext uri="{FF2B5EF4-FFF2-40B4-BE49-F238E27FC236}">
                <a16:creationId xmlns:a16="http://schemas.microsoft.com/office/drawing/2014/main" id="{3BDE3128-CC8E-47D0-9449-27E644C09015}"/>
              </a:ext>
            </a:extLst>
          </p:cNvPr>
          <p:cNvSpPr>
            <a:spLocks xmlns:a="http://schemas.openxmlformats.org/drawingml/2006/main" noGrp="1"/>
          </p:cNvSpPr>
          <p:nvPr/>
        </p:nvSpPr>
        <p:spPr>
          <a:xfrm xmlns:a="http://schemas.openxmlformats.org/drawingml/2006/main">
            <a:off x="9486900" y="52768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8FEAF2"/>
                </a:solidFill>
              </a:defRPr>
            </a:defPPr>
          </a:lstStyle>
          <a:p xmlns:a="http://schemas.openxmlformats.org/drawingml/2006/main">
            <a:pPr>
              <a:defRPr sz="975">
                <a:solidFill>
                  <a:srgbClr val="8FEAF2"/>
                </a:solidFill>
              </a:defRPr>
            </a:pPr>
            <a:r>
              <a:rPr sz="975">
                <a:solidFill>
                  <a:srgbClr val="8FEAF2"/>
                </a:solidFill>
              </a:rPr>
              <a:t>Canny 50 / 150</a:t>
            </a:r>
          </a:p>
        </p:txBody>
      </p:sp>
    </p:spTree>
    <p:extLst>
      <p:ext uri="{BB962C8B-B14F-4D97-AF65-F5344CB8AC3E}">
        <p14:creationId xmlns:p14="http://schemas.microsoft.com/office/powerpoint/2010/main" val="1585396958"/>
      </p:ext>
    </p:extLst>
  </p:cSld>
</p:sld>
</file>

<file path=ppt/slides/slide4.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F05A744-F7ED-44CE-AD96-0452792721FE}"/>
              </a:ext>
            </a:extLst>
          </p:cNvPr>
          <p:cNvSpPr>
            <a:spLocks xmlns:a="http://schemas.openxmlformats.org/drawingml/2006/main" noGrp="1"/>
          </p:cNvSpPr>
          <p:nvPr/>
        </p:nvSpPr>
        <p:spPr>
          <a:xfrm xmlns:a="http://schemas.openxmlformats.org/drawingml/2006/main">
            <a:off x="6477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9D3E6"/>
                </a:solidFill>
              </a:defRPr>
            </a:defPPr>
          </a:lstStyle>
          <a:p xmlns:a="http://schemas.openxmlformats.org/drawingml/2006/main">
            <a:pPr>
              <a:defRPr sz="975" b="1">
                <a:solidFill>
                  <a:srgbClr val="19D3E6"/>
                </a:solidFill>
              </a:defRPr>
            </a:pPr>
            <a:r>
              <a:rPr sz="975" b="1">
                <a:solidFill>
                  <a:srgbClr val="19D3E6"/>
                </a:solidFill>
              </a:rPr>
              <a:t>03 · TRIỂN KHAI</a:t>
            </a:r>
          </a:p>
        </p:txBody>
      </p:sp>
      <p:sp>
        <p:nvSpPr>
          <p:cNvPr id="2" name="">
            <a:extLst xmlns:a="http://schemas.openxmlformats.org/drawingml/2006/main">
              <a:ext uri="{FF2B5EF4-FFF2-40B4-BE49-F238E27FC236}">
                <a16:creationId xmlns:a16="http://schemas.microsoft.com/office/drawing/2014/main" id="{63259362-8578-4E0E-B304-4D2C76947D51}"/>
              </a:ext>
            </a:extLst>
          </p:cNvPr>
          <p:cNvSpPr>
            <a:spLocks xmlns:a="http://schemas.openxmlformats.org/drawingml/2006/main" noGrp="1"/>
          </p:cNvSpPr>
          <p:nvPr/>
        </p:nvSpPr>
        <p:spPr>
          <a:xfrm xmlns:a="http://schemas.openxmlformats.org/drawingml/2006/main">
            <a:off x="647700" y="6096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6FBFF"/>
                </a:solidFill>
              </a:defRPr>
            </a:defPPr>
          </a:lstStyle>
          <a:p xmlns:a="http://schemas.openxmlformats.org/drawingml/2006/main">
            <a:pPr>
              <a:defRPr sz="2550" b="1">
                <a:solidFill>
                  <a:srgbClr val="F6FBFF"/>
                </a:solidFill>
              </a:defRPr>
            </a:pPr>
            <a:r>
              <a:rPr sz="2550" b="1">
                <a:solidFill>
                  <a:srgbClr val="F6FBFF"/>
                </a:solidFill>
              </a:rPr>
              <a:t>Code Canny bằng Python và OpenCV</a:t>
            </a:r>
          </a:p>
        </p:txBody>
      </p:sp>
      <p:sp>
        <p:nvSpPr>
          <p:cNvPr id="3" name="">
            <a:extLst xmlns:a="http://schemas.openxmlformats.org/drawingml/2006/main">
              <a:ext uri="{FF2B5EF4-FFF2-40B4-BE49-F238E27FC236}">
                <a16:creationId xmlns:a16="http://schemas.microsoft.com/office/drawing/2014/main" id="{561A05C3-30CF-4358-8976-2EF33F591D3C}"/>
              </a:ext>
            </a:extLst>
          </p:cNvPr>
          <p:cNvSpPr>
            <a:spLocks xmlns:a="http://schemas.openxmlformats.org/drawingml/2006/main" noGrp="1"/>
          </p:cNvSpPr>
          <p:nvPr/>
        </p:nvSpPr>
        <p:spPr>
          <a:xfrm xmlns:a="http://schemas.openxmlformats.org/drawingml/2006/main">
            <a:off x="647700" y="1181100"/>
            <a:ext cx="85725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FCEBFA-D8FA-4161-8218-91BB2E4CF299}"/>
              </a:ext>
            </a:extLst>
          </p:cNvPr>
          <p:cNvSpPr>
            <a:spLocks xmlns:a="http://schemas.openxmlformats.org/drawingml/2006/main" noGrp="1"/>
          </p:cNvSpPr>
          <p:nvPr/>
        </p:nvSpPr>
        <p:spPr>
          <a:xfrm xmlns:a="http://schemas.openxmlformats.org/drawingml/2006/main">
            <a:off x="11239500" y="323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BDCC"/>
                </a:solidFill>
              </a:defRPr>
            </a:defPPr>
          </a:lstStyle>
          <a:p xmlns:a="http://schemas.openxmlformats.org/drawingml/2006/main">
            <a:pPr>
              <a:defRPr sz="1050" b="1">
                <a:solidFill>
                  <a:srgbClr val="A9BDCC"/>
                </a:solidFill>
              </a:defRPr>
            </a:pPr>
            <a:r>
              <a:rPr sz="1050" b="1">
                <a:solidFill>
                  <a:srgbClr val="A9BDCC"/>
                </a:solidFill>
              </a:rPr>
              <a:t>04</a:t>
            </a:r>
          </a:p>
        </p:txBody>
      </p:sp>
      <p:sp>
        <p:nvSpPr>
          <p:cNvPr id="5" name="">
            <a:extLst xmlns:a="http://schemas.openxmlformats.org/drawingml/2006/main">
              <a:ext uri="{FF2B5EF4-FFF2-40B4-BE49-F238E27FC236}">
                <a16:creationId xmlns:a16="http://schemas.microsoft.com/office/drawing/2014/main" id="{B8368681-AE71-49A2-8601-EFF2EEE0ADC4}"/>
              </a:ext>
            </a:extLst>
          </p:cNvPr>
          <p:cNvSpPr>
            <a:spLocks xmlns:a="http://schemas.openxmlformats.org/drawingml/2006/main" noGrp="1"/>
          </p:cNvSpPr>
          <p:nvPr/>
        </p:nvSpPr>
        <p:spPr>
          <a:xfrm xmlns:a="http://schemas.openxmlformats.org/drawingml/2006/main">
            <a:off x="647700" y="14668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FEAF2"/>
                </a:solidFill>
              </a:defRPr>
            </a:defPPr>
          </a:lstStyle>
          <a:p xmlns:a="http://schemas.openxmlformats.org/drawingml/2006/main">
            <a:pPr>
              <a:defRPr sz="1275" b="1">
                <a:solidFill>
                  <a:srgbClr val="8FEAF2"/>
                </a:solidFill>
              </a:defRPr>
            </a:pPr>
            <a:r>
              <a:rPr sz="1275" b="1">
                <a:solidFill>
                  <a:srgbClr val="8FEAF2"/>
                </a:solidFill>
              </a:rPr>
              <a:t>Cài thư viện: pip install opencv-python</a:t>
            </a:r>
          </a:p>
        </p:txBody>
      </p:sp>
      <p:sp>
        <p:nvSpPr>
          <p:cNvPr id="6" name="">
            <a:extLst xmlns:a="http://schemas.openxmlformats.org/drawingml/2006/main">
              <a:ext uri="{FF2B5EF4-FFF2-40B4-BE49-F238E27FC236}">
                <a16:creationId xmlns:a16="http://schemas.microsoft.com/office/drawing/2014/main" id="{5AF82FE6-EF1A-4855-B7C5-4421E03C2D78}"/>
              </a:ext>
            </a:extLst>
          </p:cNvPr>
          <p:cNvSpPr>
            <a:spLocks xmlns:a="http://schemas.openxmlformats.org/drawingml/2006/main" noGrp="1"/>
          </p:cNvSpPr>
          <p:nvPr/>
        </p:nvSpPr>
        <p:spPr>
          <a:xfrm xmlns:a="http://schemas.openxmlformats.org/drawingml/2006/main">
            <a:off x="647700" y="1924050"/>
            <a:ext cx="7239000" cy="4095750"/>
          </a:xfrm>
          <a:prstGeom xmlns:a="http://schemas.openxmlformats.org/drawingml/2006/main" prst="roundRect">
            <a:avLst>
              <a:gd name="adj" fmla="val 2791"/>
            </a:avLst>
          </a:prstGeom>
          <a:solidFill xmlns:a="http://schemas.openxmlformats.org/drawingml/2006/main">
            <a:srgbClr val="07131F"/>
          </a:solidFill>
          <a:ln xmlns:a="http://schemas.openxmlformats.org/drawingml/2006/main" w="9525">
            <a:solidFill>
              <a:srgbClr val="2A5874"/>
            </a:solidFill>
            <a:prstDash val="solid"/>
          </a:ln>
        </p:spPr>
      </p:sp>
      <p:sp>
        <p:nvSpPr>
          <p:cNvPr id="7" name="">
            <a:extLst xmlns:a="http://schemas.openxmlformats.org/drawingml/2006/main">
              <a:ext uri="{FF2B5EF4-FFF2-40B4-BE49-F238E27FC236}">
                <a16:creationId xmlns:a16="http://schemas.microsoft.com/office/drawing/2014/main" id="{D60EBF01-2148-4D65-898B-9DCD67E477B6}"/>
              </a:ext>
            </a:extLst>
          </p:cNvPr>
          <p:cNvSpPr>
            <a:spLocks xmlns:a="http://schemas.openxmlformats.org/drawingml/2006/main" noGrp="1"/>
          </p:cNvSpPr>
          <p:nvPr/>
        </p:nvSpPr>
        <p:spPr>
          <a:xfrm xmlns:a="http://schemas.openxmlformats.org/drawingml/2006/main">
            <a:off x="876300" y="2114550"/>
            <a:ext cx="67627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E6F6FA"/>
                </a:solidFill>
              </a:defRPr>
            </a:defPPr>
          </a:lstStyle>
          <a:p xmlns:a="http://schemas.openxmlformats.org/drawingml/2006/main">
            <a:pPr>
              <a:lnSpc>
                <a:spcPct val="103000"/>
              </a:lnSpc>
              <a:buNone/>
              <a:defRPr sz="1200">
                <a:solidFill>
                  <a:srgbClr val="E6F6FA"/>
                </a:solidFill>
              </a:defRPr>
            </a:pPr>
            <a:r>
              <a:rPr sz="1200">
                <a:solidFill>
                  <a:srgbClr val="E6F6FA"/>
                </a:solidFill>
              </a:rPr>
              <a:t>import cv2</a:t>
            </a:r>
          </a:p>
          <a:p xmlns:a="http://schemas.openxmlformats.org/drawingml/2006/main">
            <a:r>
              <a:t/>
            </a:r>
          </a:p>
          <a:p xmlns:a="http://schemas.openxmlformats.org/drawingml/2006/main">
            <a:pPr>
              <a:lnSpc>
                <a:spcPct val="103000"/>
              </a:lnSpc>
              <a:buNone/>
              <a:defRPr sz="1200">
                <a:solidFill>
                  <a:srgbClr val="E6F6FA"/>
                </a:solidFill>
              </a:defRPr>
            </a:pPr>
            <a:r>
              <a:rPr sz="1200">
                <a:solidFill>
                  <a:srgbClr val="E6F6FA"/>
                </a:solidFill>
              </a:rPr>
              <a:t># Đọc ảnh đầu vào</a:t>
            </a:r>
          </a:p>
          <a:p xmlns:a="http://schemas.openxmlformats.org/drawingml/2006/main">
            <a:pPr>
              <a:lnSpc>
                <a:spcPct val="103000"/>
              </a:lnSpc>
              <a:buNone/>
              <a:defRPr sz="1200">
                <a:solidFill>
                  <a:srgbClr val="E6F6FA"/>
                </a:solidFill>
              </a:defRPr>
            </a:pPr>
            <a:r>
              <a:rPr sz="1200">
                <a:solidFill>
                  <a:srgbClr val="E6F6FA"/>
                </a:solidFill>
              </a:rPr>
              <a:t>image = cv2.imread("phone.jpg")</a:t>
            </a:r>
          </a:p>
          <a:p xmlns:a="http://schemas.openxmlformats.org/drawingml/2006/main">
            <a:pPr>
              <a:lnSpc>
                <a:spcPct val="103000"/>
              </a:lnSpc>
              <a:buNone/>
              <a:defRPr sz="1200">
                <a:solidFill>
                  <a:srgbClr val="E6F6FA"/>
                </a:solidFill>
              </a:defRPr>
            </a:pPr>
            <a:r>
              <a:rPr sz="1200">
                <a:solidFill>
                  <a:srgbClr val="E6F6FA"/>
                </a:solidFill>
              </a:rPr>
              <a:t>if image is None:</a:t>
            </a:r>
          </a:p>
          <a:p xmlns:a="http://schemas.openxmlformats.org/drawingml/2006/main">
            <a:pPr>
              <a:lnSpc>
                <a:spcPct val="103000"/>
              </a:lnSpc>
              <a:buNone/>
              <a:defRPr sz="1200">
                <a:solidFill>
                  <a:srgbClr val="E6F6FA"/>
                </a:solidFill>
              </a:defRPr>
            </a:pPr>
            <a:r>
              <a:rPr sz="1200">
                <a:solidFill>
                  <a:srgbClr val="E6F6FA"/>
                </a:solidFill>
              </a:rPr>
              <a:t>    raise FileNotFoundError("Không đọc được phone.jpg")</a:t>
            </a:r>
          </a:p>
          <a:p xmlns:a="http://schemas.openxmlformats.org/drawingml/2006/main">
            <a:r>
              <a:t/>
            </a:r>
          </a:p>
          <a:p xmlns:a="http://schemas.openxmlformats.org/drawingml/2006/main">
            <a:pPr>
              <a:lnSpc>
                <a:spcPct val="103000"/>
              </a:lnSpc>
              <a:buNone/>
              <a:defRPr sz="1200">
                <a:solidFill>
                  <a:srgbClr val="E6F6FA"/>
                </a:solidFill>
              </a:defRPr>
            </a:pPr>
            <a:r>
              <a:rPr sz="1200">
                <a:solidFill>
                  <a:srgbClr val="E6F6FA"/>
                </a:solidFill>
              </a:rPr>
              <a:t># Chuyển sang ảnh xám và giảm nhiễu</a:t>
            </a:r>
          </a:p>
          <a:p xmlns:a="http://schemas.openxmlformats.org/drawingml/2006/main">
            <a:pPr>
              <a:lnSpc>
                <a:spcPct val="103000"/>
              </a:lnSpc>
              <a:buNone/>
              <a:defRPr sz="1200">
                <a:solidFill>
                  <a:srgbClr val="E6F6FA"/>
                </a:solidFill>
              </a:defRPr>
            </a:pPr>
            <a:r>
              <a:rPr sz="1200">
                <a:solidFill>
                  <a:srgbClr val="E6F6FA"/>
                </a:solidFill>
              </a:rPr>
              <a:t>gray = cv2.cvtColor(image, cv2.COLOR_BGR2GRAY)</a:t>
            </a:r>
          </a:p>
          <a:p xmlns:a="http://schemas.openxmlformats.org/drawingml/2006/main">
            <a:pPr>
              <a:lnSpc>
                <a:spcPct val="103000"/>
              </a:lnSpc>
              <a:buNone/>
              <a:defRPr sz="1200">
                <a:solidFill>
                  <a:srgbClr val="E6F6FA"/>
                </a:solidFill>
              </a:defRPr>
            </a:pPr>
            <a:r>
              <a:rPr sz="1200">
                <a:solidFill>
                  <a:srgbClr val="E6F6FA"/>
                </a:solidFill>
              </a:rPr>
              <a:t>blur = cv2.GaussianBlur(gray, (5, 5), 1.0)</a:t>
            </a:r>
          </a:p>
          <a:p xmlns:a="http://schemas.openxmlformats.org/drawingml/2006/main">
            <a:r>
              <a:t/>
            </a:r>
          </a:p>
          <a:p xmlns:a="http://schemas.openxmlformats.org/drawingml/2006/main">
            <a:pPr>
              <a:lnSpc>
                <a:spcPct val="103000"/>
              </a:lnSpc>
              <a:buNone/>
              <a:defRPr sz="1200">
                <a:solidFill>
                  <a:srgbClr val="E6F6FA"/>
                </a:solidFill>
              </a:defRPr>
            </a:pPr>
            <a:r>
              <a:rPr sz="1200">
                <a:solidFill>
                  <a:srgbClr val="E6F6FA"/>
                </a:solidFill>
              </a:rPr>
              <a:t># Phát hiện biên bằng Canny</a:t>
            </a:r>
          </a:p>
          <a:p xmlns:a="http://schemas.openxmlformats.org/drawingml/2006/main">
            <a:pPr>
              <a:lnSpc>
                <a:spcPct val="103000"/>
              </a:lnSpc>
              <a:buNone/>
              <a:defRPr sz="1200">
                <a:solidFill>
                  <a:srgbClr val="E6F6FA"/>
                </a:solidFill>
              </a:defRPr>
            </a:pPr>
            <a:r>
              <a:rPr sz="1200">
                <a:solidFill>
                  <a:srgbClr val="E6F6FA"/>
                </a:solidFill>
              </a:rPr>
              <a:t>edges = cv2.Canny(blur, 50, 150)</a:t>
            </a:r>
          </a:p>
          <a:p xmlns:a="http://schemas.openxmlformats.org/drawingml/2006/main">
            <a:r>
              <a:t/>
            </a:r>
          </a:p>
          <a:p xmlns:a="http://schemas.openxmlformats.org/drawingml/2006/main">
            <a:pPr>
              <a:lnSpc>
                <a:spcPct val="103000"/>
              </a:lnSpc>
              <a:buNone/>
              <a:defRPr sz="1200">
                <a:solidFill>
                  <a:srgbClr val="E6F6FA"/>
                </a:solidFill>
              </a:defRPr>
            </a:pPr>
            <a:r>
              <a:rPr sz="1200">
                <a:solidFill>
                  <a:srgbClr val="E6F6FA"/>
                </a:solidFill>
              </a:rPr>
              <a:t># Hiển thị ảnh gốc và ảnh biên</a:t>
            </a:r>
          </a:p>
          <a:p xmlns:a="http://schemas.openxmlformats.org/drawingml/2006/main">
            <a:pPr>
              <a:lnSpc>
                <a:spcPct val="103000"/>
              </a:lnSpc>
              <a:buNone/>
              <a:defRPr sz="1200">
                <a:solidFill>
                  <a:srgbClr val="E6F6FA"/>
                </a:solidFill>
              </a:defRPr>
            </a:pPr>
            <a:r>
              <a:rPr sz="1200">
                <a:solidFill>
                  <a:srgbClr val="E6F6FA"/>
                </a:solidFill>
              </a:rPr>
              <a:t>cv2.imshow("Original", image)</a:t>
            </a:r>
          </a:p>
          <a:p xmlns:a="http://schemas.openxmlformats.org/drawingml/2006/main">
            <a:pPr>
              <a:lnSpc>
                <a:spcPct val="103000"/>
              </a:lnSpc>
              <a:buNone/>
              <a:defRPr sz="1200">
                <a:solidFill>
                  <a:srgbClr val="E6F6FA"/>
                </a:solidFill>
              </a:defRPr>
            </a:pPr>
            <a:r>
              <a:rPr sz="1200">
                <a:solidFill>
                  <a:srgbClr val="E6F6FA"/>
                </a:solidFill>
              </a:rPr>
              <a:t>cv2.imshow("Edges", edges)</a:t>
            </a:r>
          </a:p>
          <a:p xmlns:a="http://schemas.openxmlformats.org/drawingml/2006/main">
            <a:pPr>
              <a:lnSpc>
                <a:spcPct val="103000"/>
              </a:lnSpc>
              <a:buNone/>
              <a:defRPr sz="1200">
                <a:solidFill>
                  <a:srgbClr val="E6F6FA"/>
                </a:solidFill>
              </a:defRPr>
            </a:pPr>
            <a:r>
              <a:rPr sz="1200">
                <a:solidFill>
                  <a:srgbClr val="E6F6FA"/>
                </a:solidFill>
              </a:rPr>
              <a:t>cv2.waitKey(0)</a:t>
            </a:r>
          </a:p>
          <a:p xmlns:a="http://schemas.openxmlformats.org/drawingml/2006/main">
            <a:pPr>
              <a:lnSpc>
                <a:spcPct val="103000"/>
              </a:lnSpc>
              <a:buNone/>
              <a:defRPr sz="1200">
                <a:solidFill>
                  <a:srgbClr val="E6F6FA"/>
                </a:solidFill>
              </a:defRPr>
            </a:pPr>
            <a:r>
              <a:rPr sz="1200">
                <a:solidFill>
                  <a:srgbClr val="E6F6FA"/>
                </a:solidFill>
              </a:rPr>
              <a:t>cv2.destroyAllWindows()</a:t>
            </a:r>
          </a:p>
        </p:txBody>
      </p:sp>
      <p:sp>
        <p:nvSpPr>
          <p:cNvPr id="8" name="">
            <a:extLst xmlns:a="http://schemas.openxmlformats.org/drawingml/2006/main">
              <a:ext uri="{FF2B5EF4-FFF2-40B4-BE49-F238E27FC236}">
                <a16:creationId xmlns:a16="http://schemas.microsoft.com/office/drawing/2014/main" id="{1EC1C9AB-C224-497D-AADB-B9C037FF88E8}"/>
              </a:ext>
            </a:extLst>
          </p:cNvPr>
          <p:cNvSpPr>
            <a:spLocks xmlns:a="http://schemas.openxmlformats.org/drawingml/2006/main" noGrp="1"/>
          </p:cNvSpPr>
          <p:nvPr/>
        </p:nvSpPr>
        <p:spPr>
          <a:xfrm xmlns:a="http://schemas.openxmlformats.org/drawingml/2006/main">
            <a:off x="8420100" y="1924050"/>
            <a:ext cx="3048000" cy="1714500"/>
          </a:xfrm>
          <a:prstGeom xmlns:a="http://schemas.openxmlformats.org/drawingml/2006/main" prst="roundRect">
            <a:avLst>
              <a:gd name="adj" fmla="val 6667"/>
            </a:avLst>
          </a:prstGeom>
          <a:solidFill xmlns:a="http://schemas.openxmlformats.org/drawingml/2006/main">
            <a:srgbClr val="102C46"/>
          </a:solidFill>
          <a:ln xmlns:a="http://schemas.openxmlformats.org/drawingml/2006/main" w="9525">
            <a:solidFill>
              <a:srgbClr val="19D3E6"/>
            </a:solidFill>
            <a:prstDash val="solid"/>
          </a:ln>
        </p:spPr>
      </p:sp>
      <p:sp>
        <p:nvSpPr>
          <p:cNvPr id="9" name="">
            <a:extLst xmlns:a="http://schemas.openxmlformats.org/drawingml/2006/main">
              <a:ext uri="{FF2B5EF4-FFF2-40B4-BE49-F238E27FC236}">
                <a16:creationId xmlns:a16="http://schemas.microsoft.com/office/drawing/2014/main" id="{5EF1BCFB-DF6B-47ED-87EE-EDFDC8762DA2}"/>
              </a:ext>
            </a:extLst>
          </p:cNvPr>
          <p:cNvSpPr>
            <a:spLocks xmlns:a="http://schemas.openxmlformats.org/drawingml/2006/main" noGrp="1"/>
          </p:cNvSpPr>
          <p:nvPr/>
        </p:nvSpPr>
        <p:spPr>
          <a:xfrm xmlns:a="http://schemas.openxmlformats.org/drawingml/2006/main">
            <a:off x="8667750" y="21336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9D3E6"/>
                </a:solidFill>
              </a:defRPr>
            </a:defPPr>
          </a:lstStyle>
          <a:p xmlns:a="http://schemas.openxmlformats.org/drawingml/2006/main">
            <a:pPr>
              <a:defRPr sz="1350" b="1">
                <a:solidFill>
                  <a:srgbClr val="19D3E6"/>
                </a:solidFill>
              </a:defRPr>
            </a:pPr>
            <a:r>
              <a:rPr sz="1350" b="1">
                <a:solidFill>
                  <a:srgbClr val="19D3E6"/>
                </a:solidFill>
              </a:rPr>
              <a:t>Tham số minh họa</a:t>
            </a:r>
          </a:p>
        </p:txBody>
      </p:sp>
      <p:sp>
        <p:nvSpPr>
          <p:cNvPr id="10" name="">
            <a:extLst xmlns:a="http://schemas.openxmlformats.org/drawingml/2006/main">
              <a:ext uri="{FF2B5EF4-FFF2-40B4-BE49-F238E27FC236}">
                <a16:creationId xmlns:a16="http://schemas.microsoft.com/office/drawing/2014/main" id="{896991D4-4320-469C-9B62-BB5DB113C8F0}"/>
              </a:ext>
            </a:extLst>
          </p:cNvPr>
          <p:cNvSpPr>
            <a:spLocks xmlns:a="http://schemas.openxmlformats.org/drawingml/2006/main" noGrp="1"/>
          </p:cNvSpPr>
          <p:nvPr/>
        </p:nvSpPr>
        <p:spPr>
          <a:xfrm xmlns:a="http://schemas.openxmlformats.org/drawingml/2006/main">
            <a:off x="8667750" y="253365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F6FBFF"/>
                </a:solidFill>
              </a:defRPr>
            </a:defPPr>
          </a:lstStyle>
          <a:p xmlns:a="http://schemas.openxmlformats.org/drawingml/2006/main">
            <a:pPr>
              <a:lnSpc>
                <a:spcPct val="118000"/>
              </a:lnSpc>
              <a:buNone/>
              <a:defRPr sz="1200">
                <a:solidFill>
                  <a:srgbClr val="F6FBFF"/>
                </a:solidFill>
              </a:defRPr>
            </a:pPr>
            <a:r>
              <a:rPr sz="1200">
                <a:solidFill>
                  <a:srgbClr val="F6FBFF"/>
                </a:solidFill>
              </a:rPr>
              <a:t>Gaussian Blur</a:t>
            </a:r>
          </a:p>
          <a:p xmlns:a="http://schemas.openxmlformats.org/drawingml/2006/main">
            <a:pPr>
              <a:lnSpc>
                <a:spcPct val="118000"/>
              </a:lnSpc>
              <a:buNone/>
              <a:defRPr sz="1200">
                <a:solidFill>
                  <a:srgbClr val="F6FBFF"/>
                </a:solidFill>
              </a:defRPr>
            </a:pPr>
            <a:r>
              <a:rPr sz="1200">
                <a:solidFill>
                  <a:srgbClr val="F6FBFF"/>
                </a:solidFill>
              </a:rPr>
              <a:t>Kernel (5, 5)</a:t>
            </a:r>
          </a:p>
          <a:p xmlns:a="http://schemas.openxmlformats.org/drawingml/2006/main">
            <a:pPr>
              <a:lnSpc>
                <a:spcPct val="118000"/>
              </a:lnSpc>
              <a:buNone/>
              <a:defRPr sz="1200">
                <a:solidFill>
                  <a:srgbClr val="F6FBFF"/>
                </a:solidFill>
              </a:defRPr>
            </a:pPr>
            <a:r>
              <a:rPr sz="1200">
                <a:solidFill>
                  <a:srgbClr val="F6FBFF"/>
                </a:solidFill>
              </a:rPr>
              <a:t>Sigma = 1.0</a:t>
            </a:r>
          </a:p>
          <a:p xmlns:a="http://schemas.openxmlformats.org/drawingml/2006/main">
            <a:r>
              <a:t/>
            </a:r>
          </a:p>
          <a:p xmlns:a="http://schemas.openxmlformats.org/drawingml/2006/main">
            <a:pPr>
              <a:lnSpc>
                <a:spcPct val="118000"/>
              </a:lnSpc>
              <a:buNone/>
              <a:defRPr sz="1200">
                <a:solidFill>
                  <a:srgbClr val="F6FBFF"/>
                </a:solidFill>
              </a:defRPr>
            </a:pPr>
            <a:r>
              <a:rPr sz="1200">
                <a:solidFill>
                  <a:srgbClr val="F6FBFF"/>
                </a:solidFill>
              </a:rPr>
              <a:t>Canny</a:t>
            </a:r>
          </a:p>
          <a:p xmlns:a="http://schemas.openxmlformats.org/drawingml/2006/main">
            <a:pPr>
              <a:lnSpc>
                <a:spcPct val="118000"/>
              </a:lnSpc>
              <a:buNone/>
              <a:defRPr sz="1200">
                <a:solidFill>
                  <a:srgbClr val="F6FBFF"/>
                </a:solidFill>
              </a:defRPr>
            </a:pPr>
            <a:r>
              <a:rPr sz="1200">
                <a:solidFill>
                  <a:srgbClr val="F6FBFF"/>
                </a:solidFill>
              </a:rPr>
              <a:t>Ngưỡng thấp = 50</a:t>
            </a:r>
          </a:p>
          <a:p xmlns:a="http://schemas.openxmlformats.org/drawingml/2006/main">
            <a:pPr>
              <a:lnSpc>
                <a:spcPct val="118000"/>
              </a:lnSpc>
              <a:buNone/>
              <a:defRPr sz="1200">
                <a:solidFill>
                  <a:srgbClr val="F6FBFF"/>
                </a:solidFill>
              </a:defRPr>
            </a:pPr>
            <a:r>
              <a:rPr sz="1200">
                <a:solidFill>
                  <a:srgbClr val="F6FBFF"/>
                </a:solidFill>
              </a:rPr>
              <a:t>Ngưỡng cao = 150</a:t>
            </a:r>
          </a:p>
        </p:txBody>
      </p:sp>
      <p:sp>
        <p:nvSpPr>
          <p:cNvPr id="11" name="">
            <a:extLst xmlns:a="http://schemas.openxmlformats.org/drawingml/2006/main">
              <a:ext uri="{FF2B5EF4-FFF2-40B4-BE49-F238E27FC236}">
                <a16:creationId xmlns:a16="http://schemas.microsoft.com/office/drawing/2014/main" id="{BD52EEDA-953E-4553-B0C7-311448C635FB}"/>
              </a:ext>
            </a:extLst>
          </p:cNvPr>
          <p:cNvSpPr>
            <a:spLocks xmlns:a="http://schemas.openxmlformats.org/drawingml/2006/main" noGrp="1"/>
          </p:cNvSpPr>
          <p:nvPr/>
        </p:nvSpPr>
        <p:spPr>
          <a:xfrm xmlns:a="http://schemas.openxmlformats.org/drawingml/2006/main">
            <a:off x="8420100" y="3962400"/>
            <a:ext cx="3048000" cy="2057400"/>
          </a:xfrm>
          <a:prstGeom xmlns:a="http://schemas.openxmlformats.org/drawingml/2006/main" prst="roundRect">
            <a:avLst>
              <a:gd name="adj" fmla="val 5556"/>
            </a:avLst>
          </a:prstGeom>
          <a:solidFill xmlns:a="http://schemas.openxmlformats.org/drawingml/2006/main">
            <a:srgbClr val="102C46"/>
          </a:solidFill>
          <a:ln xmlns:a="http://schemas.openxmlformats.org/drawingml/2006/main" w="9525">
            <a:solidFill>
              <a:srgbClr val="57D0A4"/>
            </a:solidFill>
            <a:prstDash val="solid"/>
          </a:ln>
        </p:spPr>
      </p:sp>
      <p:sp>
        <p:nvSpPr>
          <p:cNvPr id="12" name="">
            <a:extLst xmlns:a="http://schemas.openxmlformats.org/drawingml/2006/main">
              <a:ext uri="{FF2B5EF4-FFF2-40B4-BE49-F238E27FC236}">
                <a16:creationId xmlns:a16="http://schemas.microsoft.com/office/drawing/2014/main" id="{FBF7AC2E-F845-4CB3-A426-DAAB9BCFC26B}"/>
              </a:ext>
            </a:extLst>
          </p:cNvPr>
          <p:cNvSpPr>
            <a:spLocks xmlns:a="http://schemas.openxmlformats.org/drawingml/2006/main" noGrp="1"/>
          </p:cNvSpPr>
          <p:nvPr/>
        </p:nvSpPr>
        <p:spPr>
          <a:xfrm xmlns:a="http://schemas.openxmlformats.org/drawingml/2006/main">
            <a:off x="8667750" y="41719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7D0A4"/>
                </a:solidFill>
              </a:defRPr>
            </a:defPPr>
          </a:lstStyle>
          <a:p xmlns:a="http://schemas.openxmlformats.org/drawingml/2006/main">
            <a:pPr>
              <a:defRPr sz="1350" b="1">
                <a:solidFill>
                  <a:srgbClr val="57D0A4"/>
                </a:solidFill>
              </a:defRPr>
            </a:pPr>
            <a:r>
              <a:rPr sz="1350" b="1">
                <a:solidFill>
                  <a:srgbClr val="57D0A4"/>
                </a:solidFill>
              </a:rPr>
              <a:t>Kỳ vọng đầu ra</a:t>
            </a:r>
          </a:p>
        </p:txBody>
      </p:sp>
      <p:sp>
        <p:nvSpPr>
          <p:cNvPr id="13" name="">
            <a:extLst xmlns:a="http://schemas.openxmlformats.org/drawingml/2006/main">
              <a:ext uri="{FF2B5EF4-FFF2-40B4-BE49-F238E27FC236}">
                <a16:creationId xmlns:a16="http://schemas.microsoft.com/office/drawing/2014/main" id="{7165C83B-4834-43F8-96B6-FF134684085D}"/>
              </a:ext>
            </a:extLst>
          </p:cNvPr>
          <p:cNvSpPr>
            <a:spLocks xmlns:a="http://schemas.openxmlformats.org/drawingml/2006/main" noGrp="1"/>
          </p:cNvSpPr>
          <p:nvPr/>
        </p:nvSpPr>
        <p:spPr>
          <a:xfrm xmlns:a="http://schemas.openxmlformats.org/drawingml/2006/main">
            <a:off x="8667750" y="4591050"/>
            <a:ext cx="2343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F6FBFF"/>
                </a:solidFill>
              </a:defRPr>
            </a:defPPr>
          </a:lstStyle>
          <a:p xmlns:a="http://schemas.openxmlformats.org/drawingml/2006/main">
            <a:pPr>
              <a:lnSpc>
                <a:spcPct val="118000"/>
              </a:lnSpc>
              <a:buNone/>
              <a:defRPr sz="1275">
                <a:solidFill>
                  <a:srgbClr val="F6FBFF"/>
                </a:solidFill>
              </a:defRPr>
            </a:pPr>
            <a:r>
              <a:rPr sz="1275">
                <a:solidFill>
                  <a:srgbClr val="F6FBFF"/>
                </a:solidFill>
              </a:rPr>
              <a:t>Ảnh “Edges” là ảnh nhị phân: pixel sáng biểu diễn các vị trí có khả năng là biên. Đây là tín hiệu phân tích, chưa phải nhãn lỗi.</a:t>
            </a:r>
          </a:p>
        </p:txBody>
      </p:sp>
    </p:spTree>
    <p:extLst>
      <p:ext uri="{BB962C8B-B14F-4D97-AF65-F5344CB8AC3E}">
        <p14:creationId xmlns:p14="http://schemas.microsoft.com/office/powerpoint/2010/main" val="523364959"/>
      </p:ext>
    </p:extLst>
  </p:cSld>
</p:sld>
</file>

<file path=ppt/slides/slide5.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EF48107-72C1-4260-AF08-ED98CB412F74}"/>
              </a:ext>
            </a:extLst>
          </p:cNvPr>
          <p:cNvSpPr>
            <a:spLocks xmlns:a="http://schemas.openxmlformats.org/drawingml/2006/main" noGrp="1"/>
          </p:cNvSpPr>
          <p:nvPr/>
        </p:nvSpPr>
        <p:spPr>
          <a:xfrm xmlns:a="http://schemas.openxmlformats.org/drawingml/2006/main">
            <a:off x="6477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9D3E6"/>
                </a:solidFill>
              </a:defRPr>
            </a:defPPr>
          </a:lstStyle>
          <a:p xmlns:a="http://schemas.openxmlformats.org/drawingml/2006/main">
            <a:pPr>
              <a:defRPr sz="975" b="1">
                <a:solidFill>
                  <a:srgbClr val="19D3E6"/>
                </a:solidFill>
              </a:defRPr>
            </a:pPr>
            <a:r>
              <a:rPr sz="975" b="1">
                <a:solidFill>
                  <a:srgbClr val="19D3E6"/>
                </a:solidFill>
              </a:rPr>
              <a:t>04 · GIẢI THÍCH</a:t>
            </a:r>
          </a:p>
        </p:txBody>
      </p:sp>
      <p:sp>
        <p:nvSpPr>
          <p:cNvPr id="2" name="">
            <a:extLst xmlns:a="http://schemas.openxmlformats.org/drawingml/2006/main">
              <a:ext uri="{FF2B5EF4-FFF2-40B4-BE49-F238E27FC236}">
                <a16:creationId xmlns:a16="http://schemas.microsoft.com/office/drawing/2014/main" id="{F798A7A6-F6CA-497E-954F-6B7E55137832}"/>
              </a:ext>
            </a:extLst>
          </p:cNvPr>
          <p:cNvSpPr>
            <a:spLocks xmlns:a="http://schemas.openxmlformats.org/drawingml/2006/main" noGrp="1"/>
          </p:cNvSpPr>
          <p:nvPr/>
        </p:nvSpPr>
        <p:spPr>
          <a:xfrm xmlns:a="http://schemas.openxmlformats.org/drawingml/2006/main">
            <a:off x="647700" y="6096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6FBFF"/>
                </a:solidFill>
              </a:defRPr>
            </a:defPPr>
          </a:lstStyle>
          <a:p xmlns:a="http://schemas.openxmlformats.org/drawingml/2006/main">
            <a:pPr>
              <a:defRPr sz="2550" b="1">
                <a:solidFill>
                  <a:srgbClr val="F6FBFF"/>
                </a:solidFill>
              </a:defRPr>
            </a:pPr>
            <a:r>
              <a:rPr sz="2550" b="1">
                <a:solidFill>
                  <a:srgbClr val="F6FBFF"/>
                </a:solidFill>
              </a:rPr>
              <a:t>Mỗi bước trong code phục vụ điều gì?</a:t>
            </a:r>
          </a:p>
        </p:txBody>
      </p:sp>
      <p:sp>
        <p:nvSpPr>
          <p:cNvPr id="3" name="">
            <a:extLst xmlns:a="http://schemas.openxmlformats.org/drawingml/2006/main">
              <a:ext uri="{FF2B5EF4-FFF2-40B4-BE49-F238E27FC236}">
                <a16:creationId xmlns:a16="http://schemas.microsoft.com/office/drawing/2014/main" id="{B5560760-F77F-444F-A63E-30C877EBACA3}"/>
              </a:ext>
            </a:extLst>
          </p:cNvPr>
          <p:cNvSpPr>
            <a:spLocks xmlns:a="http://schemas.openxmlformats.org/drawingml/2006/main" noGrp="1"/>
          </p:cNvSpPr>
          <p:nvPr/>
        </p:nvSpPr>
        <p:spPr>
          <a:xfrm xmlns:a="http://schemas.openxmlformats.org/drawingml/2006/main">
            <a:off x="647700" y="1181100"/>
            <a:ext cx="85725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7E4701-9CCF-4CE6-8C55-59C9C0D3B105}"/>
              </a:ext>
            </a:extLst>
          </p:cNvPr>
          <p:cNvSpPr>
            <a:spLocks xmlns:a="http://schemas.openxmlformats.org/drawingml/2006/main" noGrp="1"/>
          </p:cNvSpPr>
          <p:nvPr/>
        </p:nvSpPr>
        <p:spPr>
          <a:xfrm xmlns:a="http://schemas.openxmlformats.org/drawingml/2006/main">
            <a:off x="11239500" y="323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BDCC"/>
                </a:solidFill>
              </a:defRPr>
            </a:defPPr>
          </a:lstStyle>
          <a:p xmlns:a="http://schemas.openxmlformats.org/drawingml/2006/main">
            <a:pPr>
              <a:defRPr sz="1050" b="1">
                <a:solidFill>
                  <a:srgbClr val="A9BDCC"/>
                </a:solidFill>
              </a:defRPr>
            </a:pPr>
            <a:r>
              <a:rPr sz="1050" b="1">
                <a:solidFill>
                  <a:srgbClr val="A9BDCC"/>
                </a:solidFill>
              </a:rPr>
              <a:t>05</a:t>
            </a:r>
          </a:p>
        </p:txBody>
      </p:sp>
      <p:sp>
        <p:nvSpPr>
          <p:cNvPr id="5" name="">
            <a:extLst xmlns:a="http://schemas.openxmlformats.org/drawingml/2006/main">
              <a:ext uri="{FF2B5EF4-FFF2-40B4-BE49-F238E27FC236}">
                <a16:creationId xmlns:a16="http://schemas.microsoft.com/office/drawing/2014/main" id="{5153E35F-13E7-44F4-85C4-A44354944FC8}"/>
              </a:ext>
            </a:extLst>
          </p:cNvPr>
          <p:cNvSpPr>
            <a:spLocks xmlns:a="http://schemas.openxmlformats.org/drawingml/2006/main" noGrp="1"/>
          </p:cNvSpPr>
          <p:nvPr/>
        </p:nvSpPr>
        <p:spPr>
          <a:xfrm xmlns:a="http://schemas.openxmlformats.org/drawingml/2006/main">
            <a:off x="647700" y="1676400"/>
            <a:ext cx="533400" cy="5334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445F9E-817B-442A-944E-6D7DAE83F81D}"/>
              </a:ext>
            </a:extLst>
          </p:cNvPr>
          <p:cNvSpPr>
            <a:spLocks xmlns:a="http://schemas.openxmlformats.org/drawingml/2006/main" noGrp="1"/>
          </p:cNvSpPr>
          <p:nvPr/>
        </p:nvSpPr>
        <p:spPr>
          <a:xfrm xmlns:a="http://schemas.openxmlformats.org/drawingml/2006/main">
            <a:off x="647700" y="18192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B1F33"/>
                </a:solidFill>
              </a:defRPr>
            </a:defPPr>
          </a:lstStyle>
          <a:p xmlns:a="http://schemas.openxmlformats.org/drawingml/2006/main">
            <a:pPr>
              <a:defRPr sz="1200" b="1">
                <a:solidFill>
                  <a:srgbClr val="0B1F33"/>
                </a:solidFill>
              </a:defRPr>
            </a:pPr>
            <a:r>
              <a:rPr sz="1200" b="1">
                <a:solidFill>
                  <a:srgbClr val="0B1F33"/>
                </a:solidFill>
              </a:rPr>
              <a:t>01</a:t>
            </a:r>
          </a:p>
        </p:txBody>
      </p:sp>
      <p:sp>
        <p:nvSpPr>
          <p:cNvPr id="7" name="">
            <a:extLst xmlns:a="http://schemas.openxmlformats.org/drawingml/2006/main">
              <a:ext uri="{FF2B5EF4-FFF2-40B4-BE49-F238E27FC236}">
                <a16:creationId xmlns:a16="http://schemas.microsoft.com/office/drawing/2014/main" id="{508A1A14-B03B-41CD-84BE-F16E100F4A86}"/>
              </a:ext>
            </a:extLst>
          </p:cNvPr>
          <p:cNvSpPr>
            <a:spLocks xmlns:a="http://schemas.openxmlformats.org/drawingml/2006/main" noGrp="1"/>
          </p:cNvSpPr>
          <p:nvPr/>
        </p:nvSpPr>
        <p:spPr>
          <a:xfrm xmlns:a="http://schemas.openxmlformats.org/drawingml/2006/main">
            <a:off x="14478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6FBFF"/>
                </a:solidFill>
              </a:defRPr>
            </a:defPPr>
          </a:lstStyle>
          <a:p xmlns:a="http://schemas.openxmlformats.org/drawingml/2006/main">
            <a:pPr>
              <a:defRPr sz="1575" b="1">
                <a:solidFill>
                  <a:srgbClr val="F6FBFF"/>
                </a:solidFill>
              </a:defRPr>
            </a:pPr>
            <a:r>
              <a:rPr sz="1575" b="1">
                <a:solidFill>
                  <a:srgbClr val="F6FBFF"/>
                </a:solidFill>
              </a:rPr>
              <a:t>cv2.imread()</a:t>
            </a:r>
          </a:p>
        </p:txBody>
      </p:sp>
      <p:sp>
        <p:nvSpPr>
          <p:cNvPr id="8" name="">
            <a:extLst xmlns:a="http://schemas.openxmlformats.org/drawingml/2006/main">
              <a:ext uri="{FF2B5EF4-FFF2-40B4-BE49-F238E27FC236}">
                <a16:creationId xmlns:a16="http://schemas.microsoft.com/office/drawing/2014/main" id="{5D3FED58-F5CC-4698-A47A-FC7E679426DA}"/>
              </a:ext>
            </a:extLst>
          </p:cNvPr>
          <p:cNvSpPr>
            <a:spLocks xmlns:a="http://schemas.openxmlformats.org/drawingml/2006/main" noGrp="1"/>
          </p:cNvSpPr>
          <p:nvPr/>
        </p:nvSpPr>
        <p:spPr>
          <a:xfrm xmlns:a="http://schemas.openxmlformats.org/drawingml/2006/main">
            <a:off x="4000500" y="1743075"/>
            <a:ext cx="695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6FBFF"/>
                </a:solidFill>
              </a:defRPr>
            </a:defPPr>
          </a:lstStyle>
          <a:p xmlns:a="http://schemas.openxmlformats.org/drawingml/2006/main">
            <a:pPr>
              <a:lnSpc>
                <a:spcPct val="112000"/>
              </a:lnSpc>
              <a:buNone/>
              <a:defRPr sz="1350">
                <a:solidFill>
                  <a:srgbClr val="F6FBFF"/>
                </a:solidFill>
              </a:defRPr>
            </a:pPr>
            <a:r>
              <a:rPr sz="1350">
                <a:solidFill>
                  <a:srgbClr val="F6FBFF"/>
                </a:solidFill>
              </a:rPr>
              <a:t>Đọc ảnh BGR từ file. Kiểm tra None để phát hiện đường dẫn sai hoặc file hỏng.</a:t>
            </a:r>
          </a:p>
        </p:txBody>
      </p:sp>
      <p:sp>
        <p:nvSpPr>
          <p:cNvPr id="9" name="">
            <a:extLst xmlns:a="http://schemas.openxmlformats.org/drawingml/2006/main">
              <a:ext uri="{FF2B5EF4-FFF2-40B4-BE49-F238E27FC236}">
                <a16:creationId xmlns:a16="http://schemas.microsoft.com/office/drawing/2014/main" id="{9F076872-FC20-4359-B63B-02BDDFBDAC79}"/>
              </a:ext>
            </a:extLst>
          </p:cNvPr>
          <p:cNvSpPr>
            <a:spLocks xmlns:a="http://schemas.openxmlformats.org/drawingml/2006/main" noGrp="1"/>
          </p:cNvSpPr>
          <p:nvPr/>
        </p:nvSpPr>
        <p:spPr>
          <a:xfrm xmlns:a="http://schemas.openxmlformats.org/drawingml/2006/main">
            <a:off x="1447800" y="2343150"/>
            <a:ext cx="9505950" cy="9525"/>
          </a:xfrm>
          <a:prstGeom xmlns:a="http://schemas.openxmlformats.org/drawingml/2006/main" prst="rect">
            <a:avLst/>
          </a:prstGeom>
          <a:solidFill xmlns:a="http://schemas.openxmlformats.org/drawingml/2006/main">
            <a:srgbClr val="244A6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EC1F05-5A8F-4CD4-B94A-6DEBA36A7E7F}"/>
              </a:ext>
            </a:extLst>
          </p:cNvPr>
          <p:cNvSpPr>
            <a:spLocks xmlns:a="http://schemas.openxmlformats.org/drawingml/2006/main" noGrp="1"/>
          </p:cNvSpPr>
          <p:nvPr/>
        </p:nvSpPr>
        <p:spPr>
          <a:xfrm xmlns:a="http://schemas.openxmlformats.org/drawingml/2006/main">
            <a:off x="647700" y="2657475"/>
            <a:ext cx="533400" cy="533400"/>
          </a:xfrm>
          <a:prstGeom xmlns:a="http://schemas.openxmlformats.org/drawingml/2006/main" prst="rect">
            <a:avLst/>
          </a:prstGeom>
          <a:solidFill xmlns:a="http://schemas.openxmlformats.org/drawingml/2006/main">
            <a:srgbClr val="8FEA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4887851-3EA6-4E96-AB9A-8413021431C8}"/>
              </a:ext>
            </a:extLst>
          </p:cNvPr>
          <p:cNvSpPr>
            <a:spLocks xmlns:a="http://schemas.openxmlformats.org/drawingml/2006/main" noGrp="1"/>
          </p:cNvSpPr>
          <p:nvPr/>
        </p:nvSpPr>
        <p:spPr>
          <a:xfrm xmlns:a="http://schemas.openxmlformats.org/drawingml/2006/main">
            <a:off x="647700" y="28003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B1F33"/>
                </a:solidFill>
              </a:defRPr>
            </a:defPPr>
          </a:lstStyle>
          <a:p xmlns:a="http://schemas.openxmlformats.org/drawingml/2006/main">
            <a:pPr>
              <a:defRPr sz="1200" b="1">
                <a:solidFill>
                  <a:srgbClr val="0B1F33"/>
                </a:solidFill>
              </a:defRPr>
            </a:pPr>
            <a:r>
              <a:rPr sz="1200" b="1">
                <a:solidFill>
                  <a:srgbClr val="0B1F33"/>
                </a:solidFill>
              </a:rPr>
              <a:t>02</a:t>
            </a:r>
          </a:p>
        </p:txBody>
      </p:sp>
      <p:sp>
        <p:nvSpPr>
          <p:cNvPr id="12" name="">
            <a:extLst xmlns:a="http://schemas.openxmlformats.org/drawingml/2006/main">
              <a:ext uri="{FF2B5EF4-FFF2-40B4-BE49-F238E27FC236}">
                <a16:creationId xmlns:a16="http://schemas.microsoft.com/office/drawing/2014/main" id="{37BD5878-82A1-4A0F-9ADF-5CA1BD0417D4}"/>
              </a:ext>
            </a:extLst>
          </p:cNvPr>
          <p:cNvSpPr>
            <a:spLocks xmlns:a="http://schemas.openxmlformats.org/drawingml/2006/main" noGrp="1"/>
          </p:cNvSpPr>
          <p:nvPr/>
        </p:nvSpPr>
        <p:spPr>
          <a:xfrm xmlns:a="http://schemas.openxmlformats.org/drawingml/2006/main">
            <a:off x="1447800" y="27336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6FBFF"/>
                </a:solidFill>
              </a:defRPr>
            </a:defPPr>
          </a:lstStyle>
          <a:p xmlns:a="http://schemas.openxmlformats.org/drawingml/2006/main">
            <a:pPr>
              <a:defRPr sz="1575" b="1">
                <a:solidFill>
                  <a:srgbClr val="F6FBFF"/>
                </a:solidFill>
              </a:defRPr>
            </a:pPr>
            <a:r>
              <a:rPr sz="1575" b="1">
                <a:solidFill>
                  <a:srgbClr val="F6FBFF"/>
                </a:solidFill>
              </a:rPr>
              <a:t>cv2.cvtColor()</a:t>
            </a:r>
          </a:p>
        </p:txBody>
      </p:sp>
      <p:sp>
        <p:nvSpPr>
          <p:cNvPr id="13" name="">
            <a:extLst xmlns:a="http://schemas.openxmlformats.org/drawingml/2006/main">
              <a:ext uri="{FF2B5EF4-FFF2-40B4-BE49-F238E27FC236}">
                <a16:creationId xmlns:a16="http://schemas.microsoft.com/office/drawing/2014/main" id="{4BB503DC-7C34-48F3-BF50-E9223C4BC029}"/>
              </a:ext>
            </a:extLst>
          </p:cNvPr>
          <p:cNvSpPr>
            <a:spLocks xmlns:a="http://schemas.openxmlformats.org/drawingml/2006/main" noGrp="1"/>
          </p:cNvSpPr>
          <p:nvPr/>
        </p:nvSpPr>
        <p:spPr>
          <a:xfrm xmlns:a="http://schemas.openxmlformats.org/drawingml/2006/main">
            <a:off x="4000500" y="2724150"/>
            <a:ext cx="695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6FBFF"/>
                </a:solidFill>
              </a:defRPr>
            </a:defPPr>
          </a:lstStyle>
          <a:p xmlns:a="http://schemas.openxmlformats.org/drawingml/2006/main">
            <a:pPr>
              <a:lnSpc>
                <a:spcPct val="112000"/>
              </a:lnSpc>
              <a:buNone/>
              <a:defRPr sz="1350">
                <a:solidFill>
                  <a:srgbClr val="F6FBFF"/>
                </a:solidFill>
              </a:defRPr>
            </a:pPr>
            <a:r>
              <a:rPr sz="1350">
                <a:solidFill>
                  <a:srgbClr val="F6FBFF"/>
                </a:solidFill>
              </a:rPr>
              <a:t>Đổi BGR sang grayscale để giảm bài toán còn một kênh cường độ sáng.</a:t>
            </a:r>
          </a:p>
        </p:txBody>
      </p:sp>
      <p:sp>
        <p:nvSpPr>
          <p:cNvPr id="14" name="">
            <a:extLst xmlns:a="http://schemas.openxmlformats.org/drawingml/2006/main">
              <a:ext uri="{FF2B5EF4-FFF2-40B4-BE49-F238E27FC236}">
                <a16:creationId xmlns:a16="http://schemas.microsoft.com/office/drawing/2014/main" id="{F61D4062-044C-4A45-89E6-CFEB950BD90D}"/>
              </a:ext>
            </a:extLst>
          </p:cNvPr>
          <p:cNvSpPr>
            <a:spLocks xmlns:a="http://schemas.openxmlformats.org/drawingml/2006/main" noGrp="1"/>
          </p:cNvSpPr>
          <p:nvPr/>
        </p:nvSpPr>
        <p:spPr>
          <a:xfrm xmlns:a="http://schemas.openxmlformats.org/drawingml/2006/main">
            <a:off x="1447800" y="3324225"/>
            <a:ext cx="9505950" cy="9525"/>
          </a:xfrm>
          <a:prstGeom xmlns:a="http://schemas.openxmlformats.org/drawingml/2006/main" prst="rect">
            <a:avLst/>
          </a:prstGeom>
          <a:solidFill xmlns:a="http://schemas.openxmlformats.org/drawingml/2006/main">
            <a:srgbClr val="244A6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BC3D09B-98D1-49B3-A110-1A009CB38590}"/>
              </a:ext>
            </a:extLst>
          </p:cNvPr>
          <p:cNvSpPr>
            <a:spLocks xmlns:a="http://schemas.openxmlformats.org/drawingml/2006/main" noGrp="1"/>
          </p:cNvSpPr>
          <p:nvPr/>
        </p:nvSpPr>
        <p:spPr>
          <a:xfrm xmlns:a="http://schemas.openxmlformats.org/drawingml/2006/main">
            <a:off x="647700" y="3638550"/>
            <a:ext cx="533400" cy="533400"/>
          </a:xfrm>
          <a:prstGeom xmlns:a="http://schemas.openxmlformats.org/drawingml/2006/main" prst="rect">
            <a:avLst/>
          </a:prstGeom>
          <a:solidFill xmlns:a="http://schemas.openxmlformats.org/drawingml/2006/main">
            <a:srgbClr val="F5C56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834AF80-D4FC-4B20-8DA6-21B711521D44}"/>
              </a:ext>
            </a:extLst>
          </p:cNvPr>
          <p:cNvSpPr>
            <a:spLocks xmlns:a="http://schemas.openxmlformats.org/drawingml/2006/main" noGrp="1"/>
          </p:cNvSpPr>
          <p:nvPr/>
        </p:nvSpPr>
        <p:spPr>
          <a:xfrm xmlns:a="http://schemas.openxmlformats.org/drawingml/2006/main">
            <a:off x="647700" y="37814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B1F33"/>
                </a:solidFill>
              </a:defRPr>
            </a:defPPr>
          </a:lstStyle>
          <a:p xmlns:a="http://schemas.openxmlformats.org/drawingml/2006/main">
            <a:pPr>
              <a:defRPr sz="1200" b="1">
                <a:solidFill>
                  <a:srgbClr val="0B1F33"/>
                </a:solidFill>
              </a:defRPr>
            </a:pPr>
            <a:r>
              <a:rPr sz="1200" b="1">
                <a:solidFill>
                  <a:srgbClr val="0B1F33"/>
                </a:solidFill>
              </a:rPr>
              <a:t>03</a:t>
            </a:r>
          </a:p>
        </p:txBody>
      </p:sp>
      <p:sp>
        <p:nvSpPr>
          <p:cNvPr id="17" name="">
            <a:extLst xmlns:a="http://schemas.openxmlformats.org/drawingml/2006/main">
              <a:ext uri="{FF2B5EF4-FFF2-40B4-BE49-F238E27FC236}">
                <a16:creationId xmlns:a16="http://schemas.microsoft.com/office/drawing/2014/main" id="{D668CD86-7CB5-4F25-9875-E86DEFF54093}"/>
              </a:ext>
            </a:extLst>
          </p:cNvPr>
          <p:cNvSpPr>
            <a:spLocks xmlns:a="http://schemas.openxmlformats.org/drawingml/2006/main" noGrp="1"/>
          </p:cNvSpPr>
          <p:nvPr/>
        </p:nvSpPr>
        <p:spPr>
          <a:xfrm xmlns:a="http://schemas.openxmlformats.org/drawingml/2006/main">
            <a:off x="1447800" y="37147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6FBFF"/>
                </a:solidFill>
              </a:defRPr>
            </a:defPPr>
          </a:lstStyle>
          <a:p xmlns:a="http://schemas.openxmlformats.org/drawingml/2006/main">
            <a:pPr>
              <a:defRPr sz="1575" b="1">
                <a:solidFill>
                  <a:srgbClr val="F6FBFF"/>
                </a:solidFill>
              </a:defRPr>
            </a:pPr>
            <a:r>
              <a:rPr sz="1575" b="1">
                <a:solidFill>
                  <a:srgbClr val="F6FBFF"/>
                </a:solidFill>
              </a:rPr>
              <a:t>GaussianBlur()</a:t>
            </a:r>
          </a:p>
        </p:txBody>
      </p:sp>
      <p:sp>
        <p:nvSpPr>
          <p:cNvPr id="18" name="">
            <a:extLst xmlns:a="http://schemas.openxmlformats.org/drawingml/2006/main">
              <a:ext uri="{FF2B5EF4-FFF2-40B4-BE49-F238E27FC236}">
                <a16:creationId xmlns:a16="http://schemas.microsoft.com/office/drawing/2014/main" id="{B5D94E51-1EC1-47C9-8629-4F7C4B9AC802}"/>
              </a:ext>
            </a:extLst>
          </p:cNvPr>
          <p:cNvSpPr>
            <a:spLocks xmlns:a="http://schemas.openxmlformats.org/drawingml/2006/main" noGrp="1"/>
          </p:cNvSpPr>
          <p:nvPr/>
        </p:nvSpPr>
        <p:spPr>
          <a:xfrm xmlns:a="http://schemas.openxmlformats.org/drawingml/2006/main">
            <a:off x="4000500" y="3705225"/>
            <a:ext cx="695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6FBFF"/>
                </a:solidFill>
              </a:defRPr>
            </a:defPPr>
          </a:lstStyle>
          <a:p xmlns:a="http://schemas.openxmlformats.org/drawingml/2006/main">
            <a:pPr>
              <a:lnSpc>
                <a:spcPct val="112000"/>
              </a:lnSpc>
              <a:buNone/>
              <a:defRPr sz="1350">
                <a:solidFill>
                  <a:srgbClr val="F6FBFF"/>
                </a:solidFill>
              </a:defRPr>
            </a:pPr>
            <a:r>
              <a:rPr sz="1350">
                <a:solidFill>
                  <a:srgbClr val="F6FBFF"/>
                </a:solidFill>
              </a:rPr>
              <a:t>Làm mượt nhiễu cao tần, hạn chế biên giả trước khi tính gradient.</a:t>
            </a:r>
          </a:p>
        </p:txBody>
      </p:sp>
      <p:sp>
        <p:nvSpPr>
          <p:cNvPr id="19" name="">
            <a:extLst xmlns:a="http://schemas.openxmlformats.org/drawingml/2006/main">
              <a:ext uri="{FF2B5EF4-FFF2-40B4-BE49-F238E27FC236}">
                <a16:creationId xmlns:a16="http://schemas.microsoft.com/office/drawing/2014/main" id="{D2F610E0-8606-4E43-8049-1E0A9CCC052C}"/>
              </a:ext>
            </a:extLst>
          </p:cNvPr>
          <p:cNvSpPr>
            <a:spLocks xmlns:a="http://schemas.openxmlformats.org/drawingml/2006/main" noGrp="1"/>
          </p:cNvSpPr>
          <p:nvPr/>
        </p:nvSpPr>
        <p:spPr>
          <a:xfrm xmlns:a="http://schemas.openxmlformats.org/drawingml/2006/main">
            <a:off x="1447800" y="4305300"/>
            <a:ext cx="9505950" cy="9525"/>
          </a:xfrm>
          <a:prstGeom xmlns:a="http://schemas.openxmlformats.org/drawingml/2006/main" prst="rect">
            <a:avLst/>
          </a:prstGeom>
          <a:solidFill xmlns:a="http://schemas.openxmlformats.org/drawingml/2006/main">
            <a:srgbClr val="244A6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B6B4158-C024-455C-A837-400C2E78C657}"/>
              </a:ext>
            </a:extLst>
          </p:cNvPr>
          <p:cNvSpPr>
            <a:spLocks xmlns:a="http://schemas.openxmlformats.org/drawingml/2006/main" noGrp="1"/>
          </p:cNvSpPr>
          <p:nvPr/>
        </p:nvSpPr>
        <p:spPr>
          <a:xfrm xmlns:a="http://schemas.openxmlformats.org/drawingml/2006/main">
            <a:off x="647700" y="4619625"/>
            <a:ext cx="533400" cy="533400"/>
          </a:xfrm>
          <a:prstGeom xmlns:a="http://schemas.openxmlformats.org/drawingml/2006/main" prst="rect">
            <a:avLst/>
          </a:prstGeom>
          <a:solidFill xmlns:a="http://schemas.openxmlformats.org/drawingml/2006/main">
            <a:srgbClr val="57D0A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54DC58D-63B1-419B-AA83-025E52B58928}"/>
              </a:ext>
            </a:extLst>
          </p:cNvPr>
          <p:cNvSpPr>
            <a:spLocks xmlns:a="http://schemas.openxmlformats.org/drawingml/2006/main" noGrp="1"/>
          </p:cNvSpPr>
          <p:nvPr/>
        </p:nvSpPr>
        <p:spPr>
          <a:xfrm xmlns:a="http://schemas.openxmlformats.org/drawingml/2006/main">
            <a:off x="647700" y="4762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B1F33"/>
                </a:solidFill>
              </a:defRPr>
            </a:defPPr>
          </a:lstStyle>
          <a:p xmlns:a="http://schemas.openxmlformats.org/drawingml/2006/main">
            <a:pPr>
              <a:defRPr sz="1200" b="1">
                <a:solidFill>
                  <a:srgbClr val="0B1F33"/>
                </a:solidFill>
              </a:defRPr>
            </a:pPr>
            <a:r>
              <a:rPr sz="1200" b="1">
                <a:solidFill>
                  <a:srgbClr val="0B1F33"/>
                </a:solidFill>
              </a:rPr>
              <a:t>04</a:t>
            </a:r>
          </a:p>
        </p:txBody>
      </p:sp>
      <p:sp>
        <p:nvSpPr>
          <p:cNvPr id="22" name="">
            <a:extLst xmlns:a="http://schemas.openxmlformats.org/drawingml/2006/main">
              <a:ext uri="{FF2B5EF4-FFF2-40B4-BE49-F238E27FC236}">
                <a16:creationId xmlns:a16="http://schemas.microsoft.com/office/drawing/2014/main" id="{65F6E9D4-9170-4878-8BB9-B5A7BB9D9F9B}"/>
              </a:ext>
            </a:extLst>
          </p:cNvPr>
          <p:cNvSpPr>
            <a:spLocks xmlns:a="http://schemas.openxmlformats.org/drawingml/2006/main" noGrp="1"/>
          </p:cNvSpPr>
          <p:nvPr/>
        </p:nvSpPr>
        <p:spPr>
          <a:xfrm xmlns:a="http://schemas.openxmlformats.org/drawingml/2006/main">
            <a:off x="1447800" y="46958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6FBFF"/>
                </a:solidFill>
              </a:defRPr>
            </a:defPPr>
          </a:lstStyle>
          <a:p xmlns:a="http://schemas.openxmlformats.org/drawingml/2006/main">
            <a:pPr>
              <a:defRPr sz="1575" b="1">
                <a:solidFill>
                  <a:srgbClr val="F6FBFF"/>
                </a:solidFill>
              </a:defRPr>
            </a:pPr>
            <a:r>
              <a:rPr sz="1575" b="1">
                <a:solidFill>
                  <a:srgbClr val="F6FBFF"/>
                </a:solidFill>
              </a:rPr>
              <a:t>cv2.Canny()</a:t>
            </a:r>
          </a:p>
        </p:txBody>
      </p:sp>
      <p:sp>
        <p:nvSpPr>
          <p:cNvPr id="23" name="">
            <a:extLst xmlns:a="http://schemas.openxmlformats.org/drawingml/2006/main">
              <a:ext uri="{FF2B5EF4-FFF2-40B4-BE49-F238E27FC236}">
                <a16:creationId xmlns:a16="http://schemas.microsoft.com/office/drawing/2014/main" id="{EECF9CA7-3318-493B-B8F8-E5D82971604B}"/>
              </a:ext>
            </a:extLst>
          </p:cNvPr>
          <p:cNvSpPr>
            <a:spLocks xmlns:a="http://schemas.openxmlformats.org/drawingml/2006/main" noGrp="1"/>
          </p:cNvSpPr>
          <p:nvPr/>
        </p:nvSpPr>
        <p:spPr>
          <a:xfrm xmlns:a="http://schemas.openxmlformats.org/drawingml/2006/main">
            <a:off x="4000500" y="4686300"/>
            <a:ext cx="695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6FBFF"/>
                </a:solidFill>
              </a:defRPr>
            </a:defPPr>
          </a:lstStyle>
          <a:p xmlns:a="http://schemas.openxmlformats.org/drawingml/2006/main">
            <a:pPr>
              <a:lnSpc>
                <a:spcPct val="112000"/>
              </a:lnSpc>
              <a:buNone/>
              <a:defRPr sz="1350">
                <a:solidFill>
                  <a:srgbClr val="F6FBFF"/>
                </a:solidFill>
              </a:defRPr>
            </a:pPr>
            <a:r>
              <a:rPr sz="1350">
                <a:solidFill>
                  <a:srgbClr val="F6FBFF"/>
                </a:solidFill>
              </a:rPr>
              <a:t>Dùng ngưỡng 50 và 150 để giữ biên mạnh và nối biên yếu có liên kết.</a:t>
            </a:r>
          </a:p>
        </p:txBody>
      </p:sp>
      <p:sp>
        <p:nvSpPr>
          <p:cNvPr id="24" name="">
            <a:extLst xmlns:a="http://schemas.openxmlformats.org/drawingml/2006/main">
              <a:ext uri="{FF2B5EF4-FFF2-40B4-BE49-F238E27FC236}">
                <a16:creationId xmlns:a16="http://schemas.microsoft.com/office/drawing/2014/main" id="{C16CEA57-5401-412D-A878-D21B27265A99}"/>
              </a:ext>
            </a:extLst>
          </p:cNvPr>
          <p:cNvSpPr>
            <a:spLocks xmlns:a="http://schemas.openxmlformats.org/drawingml/2006/main" noGrp="1"/>
          </p:cNvSpPr>
          <p:nvPr/>
        </p:nvSpPr>
        <p:spPr>
          <a:xfrm xmlns:a="http://schemas.openxmlformats.org/drawingml/2006/main">
            <a:off x="1447800" y="5286375"/>
            <a:ext cx="9505950" cy="9525"/>
          </a:xfrm>
          <a:prstGeom xmlns:a="http://schemas.openxmlformats.org/drawingml/2006/main" prst="rect">
            <a:avLst/>
          </a:prstGeom>
          <a:solidFill xmlns:a="http://schemas.openxmlformats.org/drawingml/2006/main">
            <a:srgbClr val="244A6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71E80CE-4AA5-4A27-B3C3-633DFD8C406A}"/>
              </a:ext>
            </a:extLst>
          </p:cNvPr>
          <p:cNvSpPr>
            <a:spLocks xmlns:a="http://schemas.openxmlformats.org/drawingml/2006/main" noGrp="1"/>
          </p:cNvSpPr>
          <p:nvPr/>
        </p:nvSpPr>
        <p:spPr>
          <a:xfrm xmlns:a="http://schemas.openxmlformats.org/drawingml/2006/main">
            <a:off x="647700" y="5715000"/>
            <a:ext cx="10287000" cy="495300"/>
          </a:xfrm>
          <a:prstGeom xmlns:a="http://schemas.openxmlformats.org/drawingml/2006/main" prst="roundRect">
            <a:avLst>
              <a:gd name="adj" fmla="val 15385"/>
            </a:avLst>
          </a:prstGeom>
          <a:solidFill xmlns:a="http://schemas.openxmlformats.org/drawingml/2006/main">
            <a:srgbClr val="102C46"/>
          </a:solidFill>
          <a:ln xmlns:a="http://schemas.openxmlformats.org/drawingml/2006/main" w="9525">
            <a:solidFill>
              <a:srgbClr val="19D3E6"/>
            </a:solidFill>
            <a:prstDash val="solid"/>
          </a:ln>
        </p:spPr>
      </p:sp>
      <p:sp>
        <p:nvSpPr>
          <p:cNvPr id="26" name="">
            <a:extLst xmlns:a="http://schemas.openxmlformats.org/drawingml/2006/main">
              <a:ext uri="{FF2B5EF4-FFF2-40B4-BE49-F238E27FC236}">
                <a16:creationId xmlns:a16="http://schemas.microsoft.com/office/drawing/2014/main" id="{D9BEB381-3B9C-47E2-89E7-86A260A40CF8}"/>
              </a:ext>
            </a:extLst>
          </p:cNvPr>
          <p:cNvSpPr>
            <a:spLocks xmlns:a="http://schemas.openxmlformats.org/drawingml/2006/main" noGrp="1"/>
          </p:cNvSpPr>
          <p:nvPr/>
        </p:nvSpPr>
        <p:spPr>
          <a:xfrm xmlns:a="http://schemas.openxmlformats.org/drawingml/2006/main">
            <a:off x="876300" y="5857875"/>
            <a:ext cx="979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FEAF2"/>
                </a:solidFill>
              </a:defRPr>
            </a:defPPr>
          </a:lstStyle>
          <a:p xmlns:a="http://schemas.openxmlformats.org/drawingml/2006/main">
            <a:pPr>
              <a:defRPr sz="1275" b="1">
                <a:solidFill>
                  <a:srgbClr val="8FEAF2"/>
                </a:solidFill>
              </a:defRPr>
            </a:pPr>
            <a:r>
              <a:rPr sz="1275" b="1">
                <a:solidFill>
                  <a:srgbClr val="8FEAF2"/>
                </a:solidFill>
              </a:rPr>
              <a:t>Hai ngưỡng Canny: 50 lọc điểm yếu; 150 xác nhận biên mạnh. Tăng ngưỡng giúp ít nhiễu hơn nhưng có thể bỏ sót vết xước mờ.</a:t>
            </a:r>
          </a:p>
        </p:txBody>
      </p:sp>
    </p:spTree>
    <p:extLst>
      <p:ext uri="{BB962C8B-B14F-4D97-AF65-F5344CB8AC3E}">
        <p14:creationId xmlns:p14="http://schemas.microsoft.com/office/powerpoint/2010/main" val="1451435822"/>
      </p:ext>
    </p:extLst>
  </p:cSld>
</p:sld>
</file>

<file path=ppt/slides/slide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7DB011-E0B3-488E-A1F0-B530E736ADDE}"/>
              </a:ext>
            </a:extLst>
          </p:cNvPr>
          <p:cNvSpPr>
            <a:spLocks xmlns:a="http://schemas.openxmlformats.org/drawingml/2006/main" noGrp="1"/>
          </p:cNvSpPr>
          <p:nvPr/>
        </p:nvSpPr>
        <p:spPr>
          <a:xfrm xmlns:a="http://schemas.openxmlformats.org/drawingml/2006/main">
            <a:off x="6477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9D3E6"/>
                </a:solidFill>
              </a:defRPr>
            </a:defPPr>
          </a:lstStyle>
          <a:p xmlns:a="http://schemas.openxmlformats.org/drawingml/2006/main">
            <a:pPr>
              <a:defRPr sz="975" b="1">
                <a:solidFill>
                  <a:srgbClr val="19D3E6"/>
                </a:solidFill>
              </a:defRPr>
            </a:pPr>
            <a:r>
              <a:rPr sz="975" b="1">
                <a:solidFill>
                  <a:srgbClr val="19D3E6"/>
                </a:solidFill>
              </a:rPr>
              <a:t>05 · ĐÁNH GIÁ</a:t>
            </a:r>
          </a:p>
        </p:txBody>
      </p:sp>
      <p:sp>
        <p:nvSpPr>
          <p:cNvPr id="2" name="">
            <a:extLst xmlns:a="http://schemas.openxmlformats.org/drawingml/2006/main">
              <a:ext uri="{FF2B5EF4-FFF2-40B4-BE49-F238E27FC236}">
                <a16:creationId xmlns:a16="http://schemas.microsoft.com/office/drawing/2014/main" id="{9FB75538-357C-491B-BD8C-FD0B9CF0C75E}"/>
              </a:ext>
            </a:extLst>
          </p:cNvPr>
          <p:cNvSpPr>
            <a:spLocks xmlns:a="http://schemas.openxmlformats.org/drawingml/2006/main" noGrp="1"/>
          </p:cNvSpPr>
          <p:nvPr/>
        </p:nvSpPr>
        <p:spPr>
          <a:xfrm xmlns:a="http://schemas.openxmlformats.org/drawingml/2006/main">
            <a:off x="647700" y="6096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6FBFF"/>
                </a:solidFill>
              </a:defRPr>
            </a:defPPr>
          </a:lstStyle>
          <a:p xmlns:a="http://schemas.openxmlformats.org/drawingml/2006/main">
            <a:pPr>
              <a:defRPr sz="2550" b="1">
                <a:solidFill>
                  <a:srgbClr val="F6FBFF"/>
                </a:solidFill>
              </a:defRPr>
            </a:pPr>
            <a:r>
              <a:rPr sz="2550" b="1">
                <a:solidFill>
                  <a:srgbClr val="F6FBFF"/>
                </a:solidFill>
              </a:rPr>
              <a:t>Ưu điểm và giới hạn của Edge Feature</a:t>
            </a:r>
          </a:p>
        </p:txBody>
      </p:sp>
      <p:sp>
        <p:nvSpPr>
          <p:cNvPr id="3" name="">
            <a:extLst xmlns:a="http://schemas.openxmlformats.org/drawingml/2006/main">
              <a:ext uri="{FF2B5EF4-FFF2-40B4-BE49-F238E27FC236}">
                <a16:creationId xmlns:a16="http://schemas.microsoft.com/office/drawing/2014/main" id="{4DDA60FB-171C-4AA0-85F3-1FCC4BDFBEEE}"/>
              </a:ext>
            </a:extLst>
          </p:cNvPr>
          <p:cNvSpPr>
            <a:spLocks xmlns:a="http://schemas.openxmlformats.org/drawingml/2006/main" noGrp="1"/>
          </p:cNvSpPr>
          <p:nvPr/>
        </p:nvSpPr>
        <p:spPr>
          <a:xfrm xmlns:a="http://schemas.openxmlformats.org/drawingml/2006/main">
            <a:off x="647700" y="1181100"/>
            <a:ext cx="85725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961761-C8E4-4C86-8369-F5BF84EC6607}"/>
              </a:ext>
            </a:extLst>
          </p:cNvPr>
          <p:cNvSpPr>
            <a:spLocks xmlns:a="http://schemas.openxmlformats.org/drawingml/2006/main" noGrp="1"/>
          </p:cNvSpPr>
          <p:nvPr/>
        </p:nvSpPr>
        <p:spPr>
          <a:xfrm xmlns:a="http://schemas.openxmlformats.org/drawingml/2006/main">
            <a:off x="11239500" y="323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BDCC"/>
                </a:solidFill>
              </a:defRPr>
            </a:defPPr>
          </a:lstStyle>
          <a:p xmlns:a="http://schemas.openxmlformats.org/drawingml/2006/main">
            <a:pPr>
              <a:defRPr sz="1050" b="1">
                <a:solidFill>
                  <a:srgbClr val="A9BDCC"/>
                </a:solidFill>
              </a:defRPr>
            </a:pPr>
            <a:r>
              <a:rPr sz="1050" b="1">
                <a:solidFill>
                  <a:srgbClr val="A9BDCC"/>
                </a:solidFill>
              </a:rPr>
              <a:t>06</a:t>
            </a:r>
          </a:p>
        </p:txBody>
      </p:sp>
      <p:sp>
        <p:nvSpPr>
          <p:cNvPr id="5" name="">
            <a:extLst xmlns:a="http://schemas.openxmlformats.org/drawingml/2006/main">
              <a:ext uri="{FF2B5EF4-FFF2-40B4-BE49-F238E27FC236}">
                <a16:creationId xmlns:a16="http://schemas.microsoft.com/office/drawing/2014/main" id="{C75E51B2-B105-4C00-A399-1E49FD1CDF93}"/>
              </a:ext>
            </a:extLst>
          </p:cNvPr>
          <p:cNvSpPr>
            <a:spLocks xmlns:a="http://schemas.openxmlformats.org/drawingml/2006/main" noGrp="1"/>
          </p:cNvSpPr>
          <p:nvPr/>
        </p:nvSpPr>
        <p:spPr>
          <a:xfrm xmlns:a="http://schemas.openxmlformats.org/drawingml/2006/main">
            <a:off x="647700" y="1600200"/>
            <a:ext cx="5143500" cy="476250"/>
          </a:xfrm>
          <a:prstGeom xmlns:a="http://schemas.openxmlformats.org/drawingml/2006/main" prst="rect">
            <a:avLst/>
          </a:prstGeom>
          <a:solidFill xmlns:a="http://schemas.openxmlformats.org/drawingml/2006/main">
            <a:srgbClr val="57D0A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83C335-D551-4738-9016-B2C601A73CBC}"/>
              </a:ext>
            </a:extLst>
          </p:cNvPr>
          <p:cNvSpPr>
            <a:spLocks xmlns:a="http://schemas.openxmlformats.org/drawingml/2006/main" noGrp="1"/>
          </p:cNvSpPr>
          <p:nvPr/>
        </p:nvSpPr>
        <p:spPr>
          <a:xfrm xmlns:a="http://schemas.openxmlformats.org/drawingml/2006/main">
            <a:off x="876300" y="17526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B1F33"/>
                </a:solidFill>
              </a:defRPr>
            </a:defPPr>
          </a:lstStyle>
          <a:p xmlns:a="http://schemas.openxmlformats.org/drawingml/2006/main">
            <a:pPr>
              <a:defRPr sz="1275" b="1">
                <a:solidFill>
                  <a:srgbClr val="0B1F33"/>
                </a:solidFill>
              </a:defRPr>
            </a:pPr>
            <a:r>
              <a:rPr sz="1275" b="1">
                <a:solidFill>
                  <a:srgbClr val="0B1F33"/>
                </a:solidFill>
              </a:rPr>
              <a:t>ƯU ĐIỂM</a:t>
            </a:r>
          </a:p>
        </p:txBody>
      </p:sp>
      <p:sp>
        <p:nvSpPr>
          <p:cNvPr id="7" name="">
            <a:extLst xmlns:a="http://schemas.openxmlformats.org/drawingml/2006/main">
              <a:ext uri="{FF2B5EF4-FFF2-40B4-BE49-F238E27FC236}">
                <a16:creationId xmlns:a16="http://schemas.microsoft.com/office/drawing/2014/main" id="{38867EED-BB8D-444F-ABF9-C14517A28B01}"/>
              </a:ext>
            </a:extLst>
          </p:cNvPr>
          <p:cNvSpPr>
            <a:spLocks xmlns:a="http://schemas.openxmlformats.org/drawingml/2006/main" noGrp="1"/>
          </p:cNvSpPr>
          <p:nvPr/>
        </p:nvSpPr>
        <p:spPr>
          <a:xfrm xmlns:a="http://schemas.openxmlformats.org/drawingml/2006/main">
            <a:off x="6286500" y="1600200"/>
            <a:ext cx="5143500" cy="476250"/>
          </a:xfrm>
          <a:prstGeom xmlns:a="http://schemas.openxmlformats.org/drawingml/2006/main" prst="rect">
            <a:avLst/>
          </a:prstGeom>
          <a:solidFill xmlns:a="http://schemas.openxmlformats.org/drawingml/2006/main">
            <a:srgbClr val="F26B6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F3B9EC-F00E-4B06-8F03-2EFE8AD07488}"/>
              </a:ext>
            </a:extLst>
          </p:cNvPr>
          <p:cNvSpPr>
            <a:spLocks xmlns:a="http://schemas.openxmlformats.org/drawingml/2006/main" noGrp="1"/>
          </p:cNvSpPr>
          <p:nvPr/>
        </p:nvSpPr>
        <p:spPr>
          <a:xfrm xmlns:a="http://schemas.openxmlformats.org/drawingml/2006/main">
            <a:off x="6515100" y="17526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6FBFF"/>
                </a:solidFill>
              </a:defRPr>
            </a:defPPr>
          </a:lstStyle>
          <a:p xmlns:a="http://schemas.openxmlformats.org/drawingml/2006/main">
            <a:pPr>
              <a:defRPr sz="1275" b="1">
                <a:solidFill>
                  <a:srgbClr val="F6FBFF"/>
                </a:solidFill>
              </a:defRPr>
            </a:pPr>
            <a:r>
              <a:rPr sz="1275" b="1">
                <a:solidFill>
                  <a:srgbClr val="F6FBFF"/>
                </a:solidFill>
              </a:rPr>
              <a:t>NHƯỢC ĐIỂM</a:t>
            </a:r>
          </a:p>
        </p:txBody>
      </p:sp>
      <p:sp>
        <p:nvSpPr>
          <p:cNvPr id="9" name="">
            <a:extLst xmlns:a="http://schemas.openxmlformats.org/drawingml/2006/main">
              <a:ext uri="{FF2B5EF4-FFF2-40B4-BE49-F238E27FC236}">
                <a16:creationId xmlns:a16="http://schemas.microsoft.com/office/drawing/2014/main" id="{7CF06C63-A599-44A9-A706-10BCFA9BD5A4}"/>
              </a:ext>
            </a:extLst>
          </p:cNvPr>
          <p:cNvSpPr>
            <a:spLocks xmlns:a="http://schemas.openxmlformats.org/drawingml/2006/main" noGrp="1"/>
          </p:cNvSpPr>
          <p:nvPr/>
        </p:nvSpPr>
        <p:spPr>
          <a:xfrm xmlns:a="http://schemas.openxmlformats.org/drawingml/2006/main">
            <a:off x="876300" y="2381250"/>
            <a:ext cx="4667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F6FBFF"/>
                </a:solidFill>
              </a:defRPr>
            </a:defPPr>
          </a:lstStyle>
          <a:p xmlns:a="http://schemas.openxmlformats.org/drawingml/2006/main">
            <a:pPr>
              <a:lnSpc>
                <a:spcPct val="118000"/>
              </a:lnSpc>
              <a:buNone/>
              <a:defRPr sz="1425">
                <a:solidFill>
                  <a:srgbClr val="F6FBFF"/>
                </a:solidFill>
              </a:defRPr>
            </a:pPr>
            <a:r>
              <a:rPr sz="1425">
                <a:solidFill>
                  <a:srgbClr val="F6FBFF"/>
                </a:solidFill>
              </a:rPr>
              <a:t>✓  Dễ triển khai, tốc độ xử lý nhanh.</a:t>
            </a:r>
          </a:p>
          <a:p xmlns:a="http://schemas.openxmlformats.org/drawingml/2006/main">
            <a:r>
              <a:t/>
            </a:r>
          </a:p>
          <a:p xmlns:a="http://schemas.openxmlformats.org/drawingml/2006/main">
            <a:pPr>
              <a:lnSpc>
                <a:spcPct val="118000"/>
              </a:lnSpc>
              <a:buNone/>
              <a:defRPr sz="1425">
                <a:solidFill>
                  <a:srgbClr val="F6FBFF"/>
                </a:solidFill>
              </a:defRPr>
            </a:pPr>
            <a:r>
              <a:rPr sz="1425">
                <a:solidFill>
                  <a:srgbClr val="F6FBFF"/>
                </a:solidFill>
              </a:rPr>
              <a:t>✓  Làm nổi bật cấu trúc đường biên và chi tiết dạng đường.</a:t>
            </a:r>
          </a:p>
          <a:p xmlns:a="http://schemas.openxmlformats.org/drawingml/2006/main">
            <a:r>
              <a:t/>
            </a:r>
          </a:p>
          <a:p xmlns:a="http://schemas.openxmlformats.org/drawingml/2006/main">
            <a:pPr>
              <a:lnSpc>
                <a:spcPct val="118000"/>
              </a:lnSpc>
              <a:buNone/>
              <a:defRPr sz="1425">
                <a:solidFill>
                  <a:srgbClr val="F6FBFF"/>
                </a:solidFill>
              </a:defRPr>
            </a:pPr>
            <a:r>
              <a:rPr sz="1425">
                <a:solidFill>
                  <a:srgbClr val="F6FBFF"/>
                </a:solidFill>
              </a:rPr>
              <a:t>✓  Hỗ trợ phân tích hình dạng, vị trí của vết nứt hoặc vết xước.</a:t>
            </a:r>
          </a:p>
          <a:p xmlns:a="http://schemas.openxmlformats.org/drawingml/2006/main">
            <a:r>
              <a:t/>
            </a:r>
          </a:p>
          <a:p xmlns:a="http://schemas.openxmlformats.org/drawingml/2006/main">
            <a:pPr>
              <a:lnSpc>
                <a:spcPct val="118000"/>
              </a:lnSpc>
              <a:buNone/>
              <a:defRPr sz="1425">
                <a:solidFill>
                  <a:srgbClr val="F6FBFF"/>
                </a:solidFill>
              </a:defRPr>
            </a:pPr>
            <a:r>
              <a:rPr sz="1425">
                <a:solidFill>
                  <a:srgbClr val="F6FBFF"/>
                </a:solidFill>
              </a:rPr>
              <a:t>✓  Có thể kết hợp với lọc, phân đoạn hoặc mô hình AI.</a:t>
            </a:r>
          </a:p>
        </p:txBody>
      </p:sp>
      <p:sp>
        <p:nvSpPr>
          <p:cNvPr id="10" name="">
            <a:extLst xmlns:a="http://schemas.openxmlformats.org/drawingml/2006/main">
              <a:ext uri="{FF2B5EF4-FFF2-40B4-BE49-F238E27FC236}">
                <a16:creationId xmlns:a16="http://schemas.microsoft.com/office/drawing/2014/main" id="{E3107BE0-BD76-4498-A60C-99819F1BD87B}"/>
              </a:ext>
            </a:extLst>
          </p:cNvPr>
          <p:cNvSpPr>
            <a:spLocks xmlns:a="http://schemas.openxmlformats.org/drawingml/2006/main" noGrp="1"/>
          </p:cNvSpPr>
          <p:nvPr/>
        </p:nvSpPr>
        <p:spPr>
          <a:xfrm xmlns:a="http://schemas.openxmlformats.org/drawingml/2006/main">
            <a:off x="6515100" y="2381250"/>
            <a:ext cx="46291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F6FBFF"/>
                </a:solidFill>
              </a:defRPr>
            </a:defPPr>
          </a:lstStyle>
          <a:p xmlns:a="http://schemas.openxmlformats.org/drawingml/2006/main">
            <a:pPr>
              <a:lnSpc>
                <a:spcPct val="112000"/>
              </a:lnSpc>
              <a:buNone/>
              <a:defRPr sz="1425">
                <a:solidFill>
                  <a:srgbClr val="F6FBFF"/>
                </a:solidFill>
              </a:defRPr>
            </a:pPr>
            <a:r>
              <a:rPr sz="1425">
                <a:solidFill>
                  <a:srgbClr val="F6FBFF"/>
                </a:solidFill>
              </a:rPr>
              <a:t>×  Nhạy với nhiễu và điều kiện chiếu sáng.</a:t>
            </a:r>
          </a:p>
          <a:p xmlns:a="http://schemas.openxmlformats.org/drawingml/2006/main">
            <a:r>
              <a:t/>
            </a:r>
          </a:p>
          <a:p xmlns:a="http://schemas.openxmlformats.org/drawingml/2006/main">
            <a:pPr>
              <a:lnSpc>
                <a:spcPct val="112000"/>
              </a:lnSpc>
              <a:buNone/>
              <a:defRPr sz="1425">
                <a:solidFill>
                  <a:srgbClr val="F6FBFF"/>
                </a:solidFill>
              </a:defRPr>
            </a:pPr>
            <a:r>
              <a:rPr sz="1425">
                <a:solidFill>
                  <a:srgbClr val="F6FBFF"/>
                </a:solidFill>
              </a:rPr>
              <a:t>×  Phản xạ, hoa văn và đường viền bình thường có thể tạo biên giả.</a:t>
            </a:r>
          </a:p>
          <a:p xmlns:a="http://schemas.openxmlformats.org/drawingml/2006/main">
            <a:r>
              <a:t/>
            </a:r>
          </a:p>
          <a:p xmlns:a="http://schemas.openxmlformats.org/drawingml/2006/main">
            <a:pPr>
              <a:lnSpc>
                <a:spcPct val="112000"/>
              </a:lnSpc>
              <a:buNone/>
              <a:defRPr sz="1425">
                <a:solidFill>
                  <a:srgbClr val="F6FBFF"/>
                </a:solidFill>
              </a:defRPr>
            </a:pPr>
            <a:r>
              <a:rPr sz="1425">
                <a:solidFill>
                  <a:srgbClr val="F6FBFF"/>
                </a:solidFill>
              </a:rPr>
              <a:t>×  Khó thấy vết xước mờ hoặc tương phản thấp.</a:t>
            </a:r>
          </a:p>
          <a:p xmlns:a="http://schemas.openxmlformats.org/drawingml/2006/main">
            <a:r>
              <a:t/>
            </a:r>
          </a:p>
          <a:p xmlns:a="http://schemas.openxmlformats.org/drawingml/2006/main">
            <a:pPr>
              <a:lnSpc>
                <a:spcPct val="112000"/>
              </a:lnSpc>
              <a:buNone/>
              <a:defRPr sz="1425">
                <a:solidFill>
                  <a:srgbClr val="F6FBFF"/>
                </a:solidFill>
              </a:defRPr>
            </a:pPr>
            <a:r>
              <a:rPr sz="1425">
                <a:solidFill>
                  <a:srgbClr val="F6FBFF"/>
                </a:solidFill>
              </a:rPr>
              <a:t>×  Không tự phân biệt biên lỗi với biên vật thể bình thường.</a:t>
            </a:r>
          </a:p>
          <a:p xmlns:a="http://schemas.openxmlformats.org/drawingml/2006/main">
            <a:r>
              <a:t/>
            </a:r>
          </a:p>
          <a:p xmlns:a="http://schemas.openxmlformats.org/drawingml/2006/main">
            <a:pPr>
              <a:lnSpc>
                <a:spcPct val="112000"/>
              </a:lnSpc>
              <a:buNone/>
              <a:defRPr sz="1425">
                <a:solidFill>
                  <a:srgbClr val="F6FBFF"/>
                </a:solidFill>
              </a:defRPr>
            </a:pPr>
            <a:r>
              <a:rPr sz="1425">
                <a:solidFill>
                  <a:srgbClr val="F6FBFF"/>
                </a:solidFill>
              </a:rPr>
              <a:t>×  Không tự phân loại lỗi khi dùng riêng.</a:t>
            </a:r>
          </a:p>
        </p:txBody>
      </p:sp>
      <p:sp>
        <p:nvSpPr>
          <p:cNvPr id="11" name="">
            <a:extLst xmlns:a="http://schemas.openxmlformats.org/drawingml/2006/main">
              <a:ext uri="{FF2B5EF4-FFF2-40B4-BE49-F238E27FC236}">
                <a16:creationId xmlns:a16="http://schemas.microsoft.com/office/drawing/2014/main" id="{4FC06A9C-D0A1-4D2B-BFEB-71BF0149E9E9}"/>
              </a:ext>
            </a:extLst>
          </p:cNvPr>
          <p:cNvSpPr>
            <a:spLocks xmlns:a="http://schemas.openxmlformats.org/drawingml/2006/main" noGrp="1"/>
          </p:cNvSpPr>
          <p:nvPr/>
        </p:nvSpPr>
        <p:spPr>
          <a:xfrm xmlns:a="http://schemas.openxmlformats.org/drawingml/2006/main">
            <a:off x="647700" y="5867400"/>
            <a:ext cx="10782300" cy="9525"/>
          </a:xfrm>
          <a:prstGeom xmlns:a="http://schemas.openxmlformats.org/drawingml/2006/main" prst="rect">
            <a:avLst/>
          </a:prstGeom>
          <a:solidFill xmlns:a="http://schemas.openxmlformats.org/drawingml/2006/main">
            <a:srgbClr val="2D5D7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F31310-68FA-48A9-B982-5522563121D7}"/>
              </a:ext>
            </a:extLst>
          </p:cNvPr>
          <p:cNvSpPr>
            <a:spLocks xmlns:a="http://schemas.openxmlformats.org/drawingml/2006/main" noGrp="1"/>
          </p:cNvSpPr>
          <p:nvPr/>
        </p:nvSpPr>
        <p:spPr>
          <a:xfrm xmlns:a="http://schemas.openxmlformats.org/drawingml/2006/main">
            <a:off x="647700" y="600075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8FEAF2"/>
                </a:solidFill>
              </a:defRPr>
            </a:defPPr>
          </a:lstStyle>
          <a:p xmlns:a="http://schemas.openxmlformats.org/drawingml/2006/main">
            <a:pPr>
              <a:defRPr sz="1350" b="1">
                <a:solidFill>
                  <a:srgbClr val="8FEAF2"/>
                </a:solidFill>
              </a:defRPr>
            </a:pPr>
            <a:r>
              <a:rPr sz="1350" b="1">
                <a:solidFill>
                  <a:srgbClr val="8FEAF2"/>
                </a:solidFill>
              </a:rPr>
              <a:t>Thông điệp: Edge Detection tìm đường có biến thiên cường độ. Nhận diện lỗi cần thêm logic, đặc trưng khác hoặc mô hình học máy.</a:t>
            </a:r>
          </a:p>
        </p:txBody>
      </p:sp>
    </p:spTree>
    <p:extLst>
      <p:ext uri="{BB962C8B-B14F-4D97-AF65-F5344CB8AC3E}">
        <p14:creationId xmlns:p14="http://schemas.microsoft.com/office/powerpoint/2010/main" val="1319075853"/>
      </p:ext>
    </p:extLst>
  </p:cSld>
</p:sld>
</file>

<file path=ppt/slides/slide7.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900433-3C63-436B-9FC5-4C1C4F3C87E5}"/>
              </a:ext>
            </a:extLst>
          </p:cNvPr>
          <p:cNvSpPr>
            <a:spLocks xmlns:a="http://schemas.openxmlformats.org/drawingml/2006/main" noGrp="1"/>
          </p:cNvSpPr>
          <p:nvPr/>
        </p:nvSpPr>
        <p:spPr>
          <a:xfrm xmlns:a="http://schemas.openxmlformats.org/drawingml/2006/main">
            <a:off x="6477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9D3E6"/>
                </a:solidFill>
              </a:defRPr>
            </a:defPPr>
          </a:lstStyle>
          <a:p xmlns:a="http://schemas.openxmlformats.org/drawingml/2006/main">
            <a:pPr>
              <a:defRPr sz="975" b="1">
                <a:solidFill>
                  <a:srgbClr val="19D3E6"/>
                </a:solidFill>
              </a:defRPr>
            </a:pPr>
            <a:r>
              <a:rPr sz="975" b="1">
                <a:solidFill>
                  <a:srgbClr val="19D3E6"/>
                </a:solidFill>
              </a:rPr>
              <a:t>06 · PHẠM VI DÙNG</a:t>
            </a:r>
          </a:p>
        </p:txBody>
      </p:sp>
      <p:sp>
        <p:nvSpPr>
          <p:cNvPr id="2" name="">
            <a:extLst xmlns:a="http://schemas.openxmlformats.org/drawingml/2006/main">
              <a:ext uri="{FF2B5EF4-FFF2-40B4-BE49-F238E27FC236}">
                <a16:creationId xmlns:a16="http://schemas.microsoft.com/office/drawing/2014/main" id="{084D7060-64DB-44EE-8BF9-B45CAB564530}"/>
              </a:ext>
            </a:extLst>
          </p:cNvPr>
          <p:cNvSpPr>
            <a:spLocks xmlns:a="http://schemas.openxmlformats.org/drawingml/2006/main" noGrp="1"/>
          </p:cNvSpPr>
          <p:nvPr/>
        </p:nvSpPr>
        <p:spPr>
          <a:xfrm xmlns:a="http://schemas.openxmlformats.org/drawingml/2006/main">
            <a:off x="647700" y="6096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6FBFF"/>
                </a:solidFill>
              </a:defRPr>
            </a:defPPr>
          </a:lstStyle>
          <a:p xmlns:a="http://schemas.openxmlformats.org/drawingml/2006/main">
            <a:pPr>
              <a:defRPr sz="2550" b="1">
                <a:solidFill>
                  <a:srgbClr val="F6FBFF"/>
                </a:solidFill>
              </a:defRPr>
            </a:pPr>
            <a:r>
              <a:rPr sz="2550" b="1">
                <a:solidFill>
                  <a:srgbClr val="F6FBFF"/>
                </a:solidFill>
              </a:rPr>
              <a:t>Khi nào nên dùng Edge Feature?</a:t>
            </a:r>
          </a:p>
        </p:txBody>
      </p:sp>
      <p:sp>
        <p:nvSpPr>
          <p:cNvPr id="3" name="">
            <a:extLst xmlns:a="http://schemas.openxmlformats.org/drawingml/2006/main">
              <a:ext uri="{FF2B5EF4-FFF2-40B4-BE49-F238E27FC236}">
                <a16:creationId xmlns:a16="http://schemas.microsoft.com/office/drawing/2014/main" id="{58C1ED3E-9ACD-4D3C-8CEB-1971B09E4FB5}"/>
              </a:ext>
            </a:extLst>
          </p:cNvPr>
          <p:cNvSpPr>
            <a:spLocks xmlns:a="http://schemas.openxmlformats.org/drawingml/2006/main" noGrp="1"/>
          </p:cNvSpPr>
          <p:nvPr/>
        </p:nvSpPr>
        <p:spPr>
          <a:xfrm xmlns:a="http://schemas.openxmlformats.org/drawingml/2006/main">
            <a:off x="647700" y="1181100"/>
            <a:ext cx="85725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6B67D17-CC5C-44E0-A5C4-118F4596B1F0}"/>
              </a:ext>
            </a:extLst>
          </p:cNvPr>
          <p:cNvSpPr>
            <a:spLocks xmlns:a="http://schemas.openxmlformats.org/drawingml/2006/main" noGrp="1"/>
          </p:cNvSpPr>
          <p:nvPr/>
        </p:nvSpPr>
        <p:spPr>
          <a:xfrm xmlns:a="http://schemas.openxmlformats.org/drawingml/2006/main">
            <a:off x="11239500" y="323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BDCC"/>
                </a:solidFill>
              </a:defRPr>
            </a:defPPr>
          </a:lstStyle>
          <a:p xmlns:a="http://schemas.openxmlformats.org/drawingml/2006/main">
            <a:pPr>
              <a:defRPr sz="1050" b="1">
                <a:solidFill>
                  <a:srgbClr val="A9BDCC"/>
                </a:solidFill>
              </a:defRPr>
            </a:pPr>
            <a:r>
              <a:rPr sz="1050" b="1">
                <a:solidFill>
                  <a:srgbClr val="A9BDCC"/>
                </a:solidFill>
              </a:rPr>
              <a:t>07</a:t>
            </a:r>
          </a:p>
        </p:txBody>
      </p:sp>
      <p:sp>
        <p:nvSpPr>
          <p:cNvPr id="5" name="">
            <a:extLst xmlns:a="http://schemas.openxmlformats.org/drawingml/2006/main">
              <a:ext uri="{FF2B5EF4-FFF2-40B4-BE49-F238E27FC236}">
                <a16:creationId xmlns:a16="http://schemas.microsoft.com/office/drawing/2014/main" id="{001C24B8-9455-4CCF-BDE6-885B7152E604}"/>
              </a:ext>
            </a:extLst>
          </p:cNvPr>
          <p:cNvSpPr>
            <a:spLocks xmlns:a="http://schemas.openxmlformats.org/drawingml/2006/main" noGrp="1"/>
          </p:cNvSpPr>
          <p:nvPr/>
        </p:nvSpPr>
        <p:spPr>
          <a:xfrm xmlns:a="http://schemas.openxmlformats.org/drawingml/2006/main">
            <a:off x="647700" y="1619250"/>
            <a:ext cx="4953000" cy="3905250"/>
          </a:xfrm>
          <a:prstGeom xmlns:a="http://schemas.openxmlformats.org/drawingml/2006/main" prst="roundRect">
            <a:avLst>
              <a:gd name="adj" fmla="val 2927"/>
            </a:avLst>
          </a:prstGeom>
          <a:solidFill xmlns:a="http://schemas.openxmlformats.org/drawingml/2006/main">
            <a:srgbClr val="102C46"/>
          </a:solidFill>
          <a:ln xmlns:a="http://schemas.openxmlformats.org/drawingml/2006/main" w="9525">
            <a:solidFill>
              <a:srgbClr val="57D0A4"/>
            </a:solidFill>
            <a:prstDash val="solid"/>
          </a:ln>
        </p:spPr>
      </p:sp>
      <p:sp>
        <p:nvSpPr>
          <p:cNvPr id="6" name="">
            <a:extLst xmlns:a="http://schemas.openxmlformats.org/drawingml/2006/main">
              <a:ext uri="{FF2B5EF4-FFF2-40B4-BE49-F238E27FC236}">
                <a16:creationId xmlns:a16="http://schemas.microsoft.com/office/drawing/2014/main" id="{B32C50D9-8D69-4C8F-88CD-673EA893C94D}"/>
              </a:ext>
            </a:extLst>
          </p:cNvPr>
          <p:cNvSpPr>
            <a:spLocks xmlns:a="http://schemas.openxmlformats.org/drawingml/2006/main" noGrp="1"/>
          </p:cNvSpPr>
          <p:nvPr/>
        </p:nvSpPr>
        <p:spPr>
          <a:xfrm xmlns:a="http://schemas.openxmlformats.org/drawingml/2006/main">
            <a:off x="914400" y="1866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57D0A4"/>
                </a:solidFill>
              </a:defRPr>
            </a:defPPr>
          </a:lstStyle>
          <a:p xmlns:a="http://schemas.openxmlformats.org/drawingml/2006/main">
            <a:pPr>
              <a:defRPr sz="1650" b="1">
                <a:solidFill>
                  <a:srgbClr val="57D0A4"/>
                </a:solidFill>
              </a:defRPr>
            </a:pPr>
            <a:r>
              <a:rPr sz="1650" b="1">
                <a:solidFill>
                  <a:srgbClr val="57D0A4"/>
                </a:solidFill>
              </a:rPr>
              <a:t>NÊN DÙNG</a:t>
            </a:r>
          </a:p>
        </p:txBody>
      </p:sp>
      <p:sp>
        <p:nvSpPr>
          <p:cNvPr id="7" name="">
            <a:extLst xmlns:a="http://schemas.openxmlformats.org/drawingml/2006/main">
              <a:ext uri="{FF2B5EF4-FFF2-40B4-BE49-F238E27FC236}">
                <a16:creationId xmlns:a16="http://schemas.microsoft.com/office/drawing/2014/main" id="{DC99F330-9186-40C9-B027-4849093F83BD}"/>
              </a:ext>
            </a:extLst>
          </p:cNvPr>
          <p:cNvSpPr>
            <a:spLocks xmlns:a="http://schemas.openxmlformats.org/drawingml/2006/main" noGrp="1"/>
          </p:cNvSpPr>
          <p:nvPr/>
        </p:nvSpPr>
        <p:spPr>
          <a:xfrm xmlns:a="http://schemas.openxmlformats.org/drawingml/2006/main">
            <a:off x="914400" y="2343150"/>
            <a:ext cx="4191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F6FBFF"/>
                </a:solidFill>
              </a:defRPr>
            </a:defPPr>
          </a:lstStyle>
          <a:p xmlns:a="http://schemas.openxmlformats.org/drawingml/2006/main">
            <a:pPr>
              <a:lnSpc>
                <a:spcPct val="118000"/>
              </a:lnSpc>
              <a:buNone/>
              <a:defRPr sz="1425">
                <a:solidFill>
                  <a:srgbClr val="F6FBFF"/>
                </a:solidFill>
              </a:defRPr>
            </a:pPr>
            <a:r>
              <a:rPr sz="1425">
                <a:solidFill>
                  <a:srgbClr val="F6FBFF"/>
                </a:solidFill>
              </a:rPr>
              <a:t>• Phát hiện hoặc phân tích vết nứt, vết xước dạng đường.</a:t>
            </a:r>
          </a:p>
          <a:p xmlns:a="http://schemas.openxmlformats.org/drawingml/2006/main">
            <a:pPr>
              <a:lnSpc>
                <a:spcPct val="118000"/>
              </a:lnSpc>
              <a:buNone/>
              <a:defRPr sz="1425">
                <a:solidFill>
                  <a:srgbClr val="F6FBFF"/>
                </a:solidFill>
              </a:defRPr>
            </a:pPr>
            <a:r>
              <a:rPr sz="1425">
                <a:solidFill>
                  <a:srgbClr val="F6FBFF"/>
                </a:solidFill>
              </a:rPr>
              <a:t>• Xác định đường viền và hình dạng vùng bất thường.</a:t>
            </a:r>
          </a:p>
          <a:p xmlns:a="http://schemas.openxmlformats.org/drawingml/2006/main">
            <a:pPr>
              <a:lnSpc>
                <a:spcPct val="118000"/>
              </a:lnSpc>
              <a:buNone/>
              <a:defRPr sz="1425">
                <a:solidFill>
                  <a:srgbClr val="F6FBFF"/>
                </a:solidFill>
              </a:defRPr>
            </a:pPr>
            <a:r>
              <a:rPr sz="1425">
                <a:solidFill>
                  <a:srgbClr val="F6FBFF"/>
                </a:solidFill>
              </a:rPr>
              <a:t>• Làm tín hiệu hỗ trợ trước phân đoạn hoặc phân loại.</a:t>
            </a:r>
          </a:p>
          <a:p xmlns:a="http://schemas.openxmlformats.org/drawingml/2006/main">
            <a:pPr>
              <a:lnSpc>
                <a:spcPct val="118000"/>
              </a:lnSpc>
              <a:buNone/>
              <a:defRPr sz="1425">
                <a:solidFill>
                  <a:srgbClr val="F6FBFF"/>
                </a:solidFill>
              </a:defRPr>
            </a:pPr>
            <a:r>
              <a:rPr sz="1425">
                <a:solidFill>
                  <a:srgbClr val="F6FBFF"/>
                </a:solidFill>
              </a:rPr>
              <a:t>• Kết hợp với hiệu chỉnh ánh sáng, texture hoặc mô hình AI.</a:t>
            </a:r>
          </a:p>
        </p:txBody>
      </p:sp>
      <p:sp>
        <p:nvSpPr>
          <p:cNvPr id="8" name="">
            <a:extLst xmlns:a="http://schemas.openxmlformats.org/drawingml/2006/main">
              <a:ext uri="{FF2B5EF4-FFF2-40B4-BE49-F238E27FC236}">
                <a16:creationId xmlns:a16="http://schemas.microsoft.com/office/drawing/2014/main" id="{043D46FA-6260-4A58-93C0-28E6F9194D08}"/>
              </a:ext>
            </a:extLst>
          </p:cNvPr>
          <p:cNvSpPr>
            <a:spLocks xmlns:a="http://schemas.openxmlformats.org/drawingml/2006/main" noGrp="1"/>
          </p:cNvSpPr>
          <p:nvPr/>
        </p:nvSpPr>
        <p:spPr>
          <a:xfrm xmlns:a="http://schemas.openxmlformats.org/drawingml/2006/main">
            <a:off x="6286500" y="1619250"/>
            <a:ext cx="5143500" cy="3905250"/>
          </a:xfrm>
          <a:prstGeom xmlns:a="http://schemas.openxmlformats.org/drawingml/2006/main" prst="roundRect">
            <a:avLst>
              <a:gd name="adj" fmla="val 2927"/>
            </a:avLst>
          </a:prstGeom>
          <a:solidFill xmlns:a="http://schemas.openxmlformats.org/drawingml/2006/main">
            <a:srgbClr val="102C46"/>
          </a:solidFill>
          <a:ln xmlns:a="http://schemas.openxmlformats.org/drawingml/2006/main" w="9525">
            <a:solidFill>
              <a:srgbClr val="F26B6B"/>
            </a:solidFill>
            <a:prstDash val="solid"/>
          </a:ln>
        </p:spPr>
      </p:sp>
      <p:sp>
        <p:nvSpPr>
          <p:cNvPr id="9" name="">
            <a:extLst xmlns:a="http://schemas.openxmlformats.org/drawingml/2006/main">
              <a:ext uri="{FF2B5EF4-FFF2-40B4-BE49-F238E27FC236}">
                <a16:creationId xmlns:a16="http://schemas.microsoft.com/office/drawing/2014/main" id="{F9AA1D81-E670-4256-9721-3097CF4E19FB}"/>
              </a:ext>
            </a:extLst>
          </p:cNvPr>
          <p:cNvSpPr>
            <a:spLocks xmlns:a="http://schemas.openxmlformats.org/drawingml/2006/main" noGrp="1"/>
          </p:cNvSpPr>
          <p:nvPr/>
        </p:nvSpPr>
        <p:spPr>
          <a:xfrm xmlns:a="http://schemas.openxmlformats.org/drawingml/2006/main">
            <a:off x="6553200" y="18669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26B6B"/>
                </a:solidFill>
              </a:defRPr>
            </a:defPPr>
          </a:lstStyle>
          <a:p xmlns:a="http://schemas.openxmlformats.org/drawingml/2006/main">
            <a:pPr>
              <a:defRPr sz="1650" b="1">
                <a:solidFill>
                  <a:srgbClr val="F26B6B"/>
                </a:solidFill>
              </a:defRPr>
            </a:pPr>
            <a:r>
              <a:rPr sz="1650" b="1">
                <a:solidFill>
                  <a:srgbClr val="F26B6B"/>
                </a:solidFill>
              </a:rPr>
              <a:t>KHÔNG NÊN PHỤ THUỘC MỘT MÌNH</a:t>
            </a:r>
          </a:p>
        </p:txBody>
      </p:sp>
      <p:sp>
        <p:nvSpPr>
          <p:cNvPr id="10" name="">
            <a:extLst xmlns:a="http://schemas.openxmlformats.org/drawingml/2006/main">
              <a:ext uri="{FF2B5EF4-FFF2-40B4-BE49-F238E27FC236}">
                <a16:creationId xmlns:a16="http://schemas.microsoft.com/office/drawing/2014/main" id="{9837F85A-6EA6-4148-BD96-2BF8D7EBF1E5}"/>
              </a:ext>
            </a:extLst>
          </p:cNvPr>
          <p:cNvSpPr>
            <a:spLocks xmlns:a="http://schemas.openxmlformats.org/drawingml/2006/main" noGrp="1"/>
          </p:cNvSpPr>
          <p:nvPr/>
        </p:nvSpPr>
        <p:spPr>
          <a:xfrm xmlns:a="http://schemas.openxmlformats.org/drawingml/2006/main">
            <a:off x="6553200" y="2343150"/>
            <a:ext cx="428625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F6FBFF"/>
                </a:solidFill>
              </a:defRPr>
            </a:defPPr>
          </a:lstStyle>
          <a:p xmlns:a="http://schemas.openxmlformats.org/drawingml/2006/main">
            <a:pPr>
              <a:lnSpc>
                <a:spcPct val="118000"/>
              </a:lnSpc>
              <a:buNone/>
              <a:defRPr sz="1425">
                <a:solidFill>
                  <a:srgbClr val="F6FBFF"/>
                </a:solidFill>
              </a:defRPr>
            </a:pPr>
            <a:r>
              <a:rPr sz="1425">
                <a:solidFill>
                  <a:srgbClr val="F6FBFF"/>
                </a:solidFill>
              </a:rPr>
              <a:t>• Lỗi có độ tương phản thấp hoặc biên không liên tục.</a:t>
            </a:r>
          </a:p>
          <a:p xmlns:a="http://schemas.openxmlformats.org/drawingml/2006/main">
            <a:pPr>
              <a:lnSpc>
                <a:spcPct val="118000"/>
              </a:lnSpc>
              <a:buNone/>
              <a:defRPr sz="1425">
                <a:solidFill>
                  <a:srgbClr val="F6FBFF"/>
                </a:solidFill>
              </a:defRPr>
            </a:pPr>
            <a:r>
              <a:rPr sz="1425">
                <a:solidFill>
                  <a:srgbClr val="F6FBFF"/>
                </a:solidFill>
              </a:rPr>
              <a:t>• Bề mặt phản chiếu mạnh hoặc có nhiều hoa văn.</a:t>
            </a:r>
          </a:p>
          <a:p xmlns:a="http://schemas.openxmlformats.org/drawingml/2006/main">
            <a:pPr>
              <a:lnSpc>
                <a:spcPct val="118000"/>
              </a:lnSpc>
              <a:buNone/>
              <a:defRPr sz="1425">
                <a:solidFill>
                  <a:srgbClr val="F6FBFF"/>
                </a:solidFill>
              </a:defRPr>
            </a:pPr>
            <a:r>
              <a:rPr sz="1425">
                <a:solidFill>
                  <a:srgbClr val="F6FBFF"/>
                </a:solidFill>
              </a:rPr>
              <a:t>• Lỗi chủ yếu thể hiện qua màu sắc hoặc kết cấu.</a:t>
            </a:r>
          </a:p>
          <a:p xmlns:a="http://schemas.openxmlformats.org/drawingml/2006/main">
            <a:pPr>
              <a:lnSpc>
                <a:spcPct val="118000"/>
              </a:lnSpc>
              <a:buNone/>
              <a:defRPr sz="1425">
                <a:solidFill>
                  <a:srgbClr val="F6FBFF"/>
                </a:solidFill>
              </a:defRPr>
            </a:pPr>
            <a:r>
              <a:rPr sz="1425">
                <a:solidFill>
                  <a:srgbClr val="F6FBFF"/>
                </a:solidFill>
              </a:rPr>
              <a:t>• Bài toán cần nhận diện và phân loại nhiều loại lỗi phức tạp.</a:t>
            </a:r>
          </a:p>
        </p:txBody>
      </p:sp>
      <p:sp>
        <p:nvSpPr>
          <p:cNvPr id="11" name="">
            <a:extLst xmlns:a="http://schemas.openxmlformats.org/drawingml/2006/main">
              <a:ext uri="{FF2B5EF4-FFF2-40B4-BE49-F238E27FC236}">
                <a16:creationId xmlns:a16="http://schemas.microsoft.com/office/drawing/2014/main" id="{F90FC3DB-18B2-4871-A0BF-77CB99C2FB72}"/>
              </a:ext>
            </a:extLst>
          </p:cNvPr>
          <p:cNvSpPr>
            <a:spLocks xmlns:a="http://schemas.openxmlformats.org/drawingml/2006/main" noGrp="1"/>
          </p:cNvSpPr>
          <p:nvPr/>
        </p:nvSpPr>
        <p:spPr>
          <a:xfrm xmlns:a="http://schemas.openxmlformats.org/drawingml/2006/main">
            <a:off x="647700" y="5905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8FEAF2"/>
                </a:solidFill>
              </a:defRPr>
            </a:defPPr>
          </a:lstStyle>
          <a:p xmlns:a="http://schemas.openxmlformats.org/drawingml/2006/main">
            <a:pPr>
              <a:defRPr sz="1350" b="1">
                <a:solidFill>
                  <a:srgbClr val="8FEAF2"/>
                </a:solidFill>
              </a:defRPr>
            </a:pPr>
            <a:r>
              <a:rPr sz="1350" b="1">
                <a:solidFill>
                  <a:srgbClr val="8FEAF2"/>
                </a:solidFill>
              </a:rPr>
              <a:t>Quyết định dùng Edge Feature phụ thuộc vào chất lượng ảnh và dạng lỗi cần tìm.</a:t>
            </a:r>
          </a:p>
        </p:txBody>
      </p:sp>
    </p:spTree>
    <p:extLst>
      <p:ext uri="{BB962C8B-B14F-4D97-AF65-F5344CB8AC3E}">
        <p14:creationId xmlns:p14="http://schemas.microsoft.com/office/powerpoint/2010/main" val="1581599883"/>
      </p:ext>
    </p:extLst>
  </p:cSld>
</p:sld>
</file>

<file path=ppt/slides/slide8.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EBC7139-3558-44B2-B90C-5E8869FFBAA2}"/>
              </a:ext>
            </a:extLst>
          </p:cNvPr>
          <p:cNvSpPr>
            <a:spLocks xmlns:a="http://schemas.openxmlformats.org/drawingml/2006/main" noGrp="1"/>
          </p:cNvSpPr>
          <p:nvPr/>
        </p:nvSpPr>
        <p:spPr>
          <a:xfrm xmlns:a="http://schemas.openxmlformats.org/drawingml/2006/main">
            <a:off x="6477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9D3E6"/>
                </a:solidFill>
              </a:defRPr>
            </a:defPPr>
          </a:lstStyle>
          <a:p xmlns:a="http://schemas.openxmlformats.org/drawingml/2006/main">
            <a:pPr>
              <a:defRPr sz="975" b="1">
                <a:solidFill>
                  <a:srgbClr val="19D3E6"/>
                </a:solidFill>
              </a:defRPr>
            </a:pPr>
            <a:r>
              <a:rPr sz="975" b="1">
                <a:solidFill>
                  <a:srgbClr val="19D3E6"/>
                </a:solidFill>
              </a:rPr>
              <a:t>07 · LIÊN HỆ ĐỒ ÁN</a:t>
            </a:r>
          </a:p>
        </p:txBody>
      </p:sp>
      <p:sp>
        <p:nvSpPr>
          <p:cNvPr id="2" name="">
            <a:extLst xmlns:a="http://schemas.openxmlformats.org/drawingml/2006/main">
              <a:ext uri="{FF2B5EF4-FFF2-40B4-BE49-F238E27FC236}">
                <a16:creationId xmlns:a16="http://schemas.microsoft.com/office/drawing/2014/main" id="{5EB6E4AB-13BE-4E03-8DA2-05D6156789D1}"/>
              </a:ext>
            </a:extLst>
          </p:cNvPr>
          <p:cNvSpPr>
            <a:spLocks xmlns:a="http://schemas.openxmlformats.org/drawingml/2006/main" noGrp="1"/>
          </p:cNvSpPr>
          <p:nvPr/>
        </p:nvSpPr>
        <p:spPr>
          <a:xfrm xmlns:a="http://schemas.openxmlformats.org/drawingml/2006/main">
            <a:off x="647700" y="6096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6FBFF"/>
                </a:solidFill>
              </a:defRPr>
            </a:defPPr>
          </a:lstStyle>
          <a:p xmlns:a="http://schemas.openxmlformats.org/drawingml/2006/main">
            <a:pPr>
              <a:defRPr sz="2550" b="1">
                <a:solidFill>
                  <a:srgbClr val="F6FBFF"/>
                </a:solidFill>
              </a:defRPr>
            </a:pPr>
            <a:r>
              <a:rPr sz="2550" b="1">
                <a:solidFill>
                  <a:srgbClr val="F6FBFF"/>
                </a:solidFill>
              </a:rPr>
              <a:t>Vị trí của Edge Feature trong pipeline phát hiện lỗi</a:t>
            </a:r>
          </a:p>
        </p:txBody>
      </p:sp>
      <p:sp>
        <p:nvSpPr>
          <p:cNvPr id="3" name="">
            <a:extLst xmlns:a="http://schemas.openxmlformats.org/drawingml/2006/main">
              <a:ext uri="{FF2B5EF4-FFF2-40B4-BE49-F238E27FC236}">
                <a16:creationId xmlns:a16="http://schemas.microsoft.com/office/drawing/2014/main" id="{2BCE3907-9854-482C-AB8C-603345F145C1}"/>
              </a:ext>
            </a:extLst>
          </p:cNvPr>
          <p:cNvSpPr>
            <a:spLocks xmlns:a="http://schemas.openxmlformats.org/drawingml/2006/main" noGrp="1"/>
          </p:cNvSpPr>
          <p:nvPr/>
        </p:nvSpPr>
        <p:spPr>
          <a:xfrm xmlns:a="http://schemas.openxmlformats.org/drawingml/2006/main">
            <a:off x="647700" y="1181100"/>
            <a:ext cx="85725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718CD6-A23C-4090-BEF9-866D885581B9}"/>
              </a:ext>
            </a:extLst>
          </p:cNvPr>
          <p:cNvSpPr>
            <a:spLocks xmlns:a="http://schemas.openxmlformats.org/drawingml/2006/main" noGrp="1"/>
          </p:cNvSpPr>
          <p:nvPr/>
        </p:nvSpPr>
        <p:spPr>
          <a:xfrm xmlns:a="http://schemas.openxmlformats.org/drawingml/2006/main">
            <a:off x="11239500" y="323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BDCC"/>
                </a:solidFill>
              </a:defRPr>
            </a:defPPr>
          </a:lstStyle>
          <a:p xmlns:a="http://schemas.openxmlformats.org/drawingml/2006/main">
            <a:pPr>
              <a:defRPr sz="1050" b="1">
                <a:solidFill>
                  <a:srgbClr val="A9BDCC"/>
                </a:solidFill>
              </a:defRPr>
            </a:pPr>
            <a:r>
              <a:rPr sz="1050" b="1">
                <a:solidFill>
                  <a:srgbClr val="A9BDCC"/>
                </a:solidFill>
              </a:rPr>
              <a:t>08</a:t>
            </a:r>
          </a:p>
        </p:txBody>
      </p:sp>
      <p:sp>
        <p:nvSpPr>
          <p:cNvPr id="5" name="">
            <a:extLst xmlns:a="http://schemas.openxmlformats.org/drawingml/2006/main">
              <a:ext uri="{FF2B5EF4-FFF2-40B4-BE49-F238E27FC236}">
                <a16:creationId xmlns:a16="http://schemas.microsoft.com/office/drawing/2014/main" id="{549B07D2-CB46-4BEA-AC50-46F6369F2865}"/>
              </a:ext>
            </a:extLst>
          </p:cNvPr>
          <p:cNvSpPr>
            <a:spLocks xmlns:a="http://schemas.openxmlformats.org/drawingml/2006/main" noGrp="1"/>
          </p:cNvSpPr>
          <p:nvPr/>
        </p:nvSpPr>
        <p:spPr>
          <a:xfrm xmlns:a="http://schemas.openxmlformats.org/drawingml/2006/main">
            <a:off x="647700" y="14668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F6FBFF"/>
                </a:solidFill>
              </a:defRPr>
            </a:defPPr>
          </a:lstStyle>
          <a:p xmlns:a="http://schemas.openxmlformats.org/drawingml/2006/main">
            <a:pPr>
              <a:defRPr sz="1500">
                <a:solidFill>
                  <a:srgbClr val="F6FBFF"/>
                </a:solidFill>
              </a:defRPr>
            </a:pPr>
            <a:r>
              <a:rPr sz="1500">
                <a:solidFill>
                  <a:srgbClr val="F6FBFF"/>
                </a:solidFill>
              </a:rPr>
              <a:t>Edge Detection có thể là công cụ phân tích hoặc bước tiền xử lý. Nó không bắt buộc phải là đầu vào của YOLO.</a:t>
            </a:r>
          </a:p>
        </p:txBody>
      </p:sp>
      <p:sp>
        <p:nvSpPr>
          <p:cNvPr id="6" name="">
            <a:extLst xmlns:a="http://schemas.openxmlformats.org/drawingml/2006/main">
              <a:ext uri="{FF2B5EF4-FFF2-40B4-BE49-F238E27FC236}">
                <a16:creationId xmlns:a16="http://schemas.microsoft.com/office/drawing/2014/main" id="{13BA8E52-379D-43A6-9489-3C032C3680C8}"/>
              </a:ext>
            </a:extLst>
          </p:cNvPr>
          <p:cNvSpPr>
            <a:spLocks xmlns:a="http://schemas.openxmlformats.org/drawingml/2006/main" noGrp="1"/>
          </p:cNvSpPr>
          <p:nvPr/>
        </p:nvSpPr>
        <p:spPr>
          <a:xfrm xmlns:a="http://schemas.openxmlformats.org/drawingml/2006/main">
            <a:off x="666750" y="2381250"/>
            <a:ext cx="1428750" cy="1047750"/>
          </a:xfrm>
          <a:prstGeom xmlns:a="http://schemas.openxmlformats.org/drawingml/2006/main" prst="roundRect">
            <a:avLst>
              <a:gd name="adj" fmla="val 7273"/>
            </a:avLst>
          </a:prstGeom>
          <a:solidFill xmlns:a="http://schemas.openxmlformats.org/drawingml/2006/main">
            <a:srgbClr val="102C46"/>
          </a:solidFill>
          <a:ln xmlns:a="http://schemas.openxmlformats.org/drawingml/2006/main" w="9525">
            <a:solidFill>
              <a:srgbClr val="31556D"/>
            </a:solidFill>
            <a:prstDash val="solid"/>
          </a:ln>
        </p:spPr>
      </p:sp>
      <p:sp>
        <p:nvSpPr>
          <p:cNvPr id="7" name="">
            <a:extLst xmlns:a="http://schemas.openxmlformats.org/drawingml/2006/main">
              <a:ext uri="{FF2B5EF4-FFF2-40B4-BE49-F238E27FC236}">
                <a16:creationId xmlns:a16="http://schemas.microsoft.com/office/drawing/2014/main" id="{7C0DD8DF-915F-4287-B1C6-E55A187C96F1}"/>
              </a:ext>
            </a:extLst>
          </p:cNvPr>
          <p:cNvSpPr>
            <a:spLocks xmlns:a="http://schemas.openxmlformats.org/drawingml/2006/main" noGrp="1"/>
          </p:cNvSpPr>
          <p:nvPr/>
        </p:nvSpPr>
        <p:spPr>
          <a:xfrm xmlns:a="http://schemas.openxmlformats.org/drawingml/2006/main">
            <a:off x="762000" y="2571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Ảnh điện thoại</a:t>
            </a:r>
          </a:p>
        </p:txBody>
      </p:sp>
      <p:sp>
        <p:nvSpPr>
          <p:cNvPr id="8" name="">
            <a:extLst xmlns:a="http://schemas.openxmlformats.org/drawingml/2006/main">
              <a:ext uri="{FF2B5EF4-FFF2-40B4-BE49-F238E27FC236}">
                <a16:creationId xmlns:a16="http://schemas.microsoft.com/office/drawing/2014/main" id="{82C70C32-795B-4F57-91A0-7AA8F3BB1F03}"/>
              </a:ext>
            </a:extLst>
          </p:cNvPr>
          <p:cNvSpPr>
            <a:spLocks xmlns:a="http://schemas.openxmlformats.org/drawingml/2006/main" noGrp="1"/>
          </p:cNvSpPr>
          <p:nvPr/>
        </p:nvSpPr>
        <p:spPr>
          <a:xfrm xmlns:a="http://schemas.openxmlformats.org/drawingml/2006/main">
            <a:off x="762000" y="28956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9BDCC"/>
                </a:solidFill>
              </a:defRPr>
            </a:defPPr>
          </a:lstStyle>
          <a:p xmlns:a="http://schemas.openxmlformats.org/drawingml/2006/main">
            <a:pPr>
              <a:defRPr sz="1050">
                <a:solidFill>
                  <a:srgbClr val="A9BDCC"/>
                </a:solidFill>
              </a:defRPr>
            </a:pPr>
            <a:r>
              <a:rPr sz="1050">
                <a:solidFill>
                  <a:srgbClr val="A9BDCC"/>
                </a:solidFill>
              </a:rPr>
              <a:t>camera</a:t>
            </a:r>
          </a:p>
        </p:txBody>
      </p:sp>
      <p:sp>
        <p:nvSpPr>
          <p:cNvPr id="9" name="">
            <a:extLst xmlns:a="http://schemas.openxmlformats.org/drawingml/2006/main">
              <a:ext uri="{FF2B5EF4-FFF2-40B4-BE49-F238E27FC236}">
                <a16:creationId xmlns:a16="http://schemas.microsoft.com/office/drawing/2014/main" id="{A5B13FC3-1122-4BD2-9351-2581F7F20F5E}"/>
              </a:ext>
            </a:extLst>
          </p:cNvPr>
          <p:cNvSpPr>
            <a:spLocks xmlns:a="http://schemas.openxmlformats.org/drawingml/2006/main" noGrp="1"/>
          </p:cNvSpPr>
          <p:nvPr/>
        </p:nvSpPr>
        <p:spPr>
          <a:xfrm xmlns:a="http://schemas.openxmlformats.org/drawingml/2006/main">
            <a:off x="2171700" y="2952750"/>
            <a:ext cx="30480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B6A564-453B-4BBC-95FC-D972E4B18922}"/>
              </a:ext>
            </a:extLst>
          </p:cNvPr>
          <p:cNvSpPr>
            <a:spLocks xmlns:a="http://schemas.openxmlformats.org/drawingml/2006/main" noGrp="1"/>
          </p:cNvSpPr>
          <p:nvPr/>
        </p:nvSpPr>
        <p:spPr>
          <a:xfrm xmlns:a="http://schemas.openxmlformats.org/drawingml/2006/main">
            <a:off x="2571750" y="2381250"/>
            <a:ext cx="1428750" cy="1047750"/>
          </a:xfrm>
          <a:prstGeom xmlns:a="http://schemas.openxmlformats.org/drawingml/2006/main" prst="roundRect">
            <a:avLst>
              <a:gd name="adj" fmla="val 7273"/>
            </a:avLst>
          </a:prstGeom>
          <a:solidFill xmlns:a="http://schemas.openxmlformats.org/drawingml/2006/main">
            <a:srgbClr val="102C46"/>
          </a:solidFill>
          <a:ln xmlns:a="http://schemas.openxmlformats.org/drawingml/2006/main" w="9525">
            <a:solidFill>
              <a:srgbClr val="31556D"/>
            </a:solidFill>
            <a:prstDash val="solid"/>
          </a:ln>
        </p:spPr>
      </p:sp>
      <p:sp>
        <p:nvSpPr>
          <p:cNvPr id="11" name="">
            <a:extLst xmlns:a="http://schemas.openxmlformats.org/drawingml/2006/main">
              <a:ext uri="{FF2B5EF4-FFF2-40B4-BE49-F238E27FC236}">
                <a16:creationId xmlns:a16="http://schemas.microsoft.com/office/drawing/2014/main" id="{75D87AD2-24D0-4C2D-BAA1-00D59EF35243}"/>
              </a:ext>
            </a:extLst>
          </p:cNvPr>
          <p:cNvSpPr>
            <a:spLocks xmlns:a="http://schemas.openxmlformats.org/drawingml/2006/main" noGrp="1"/>
          </p:cNvSpPr>
          <p:nvPr/>
        </p:nvSpPr>
        <p:spPr>
          <a:xfrm xmlns:a="http://schemas.openxmlformats.org/drawingml/2006/main">
            <a:off x="2667000" y="2571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Hiệu chỉnh</a:t>
            </a:r>
          </a:p>
        </p:txBody>
      </p:sp>
      <p:sp>
        <p:nvSpPr>
          <p:cNvPr id="12" name="">
            <a:extLst xmlns:a="http://schemas.openxmlformats.org/drawingml/2006/main">
              <a:ext uri="{FF2B5EF4-FFF2-40B4-BE49-F238E27FC236}">
                <a16:creationId xmlns:a16="http://schemas.microsoft.com/office/drawing/2014/main" id="{1E8FC4AA-1FFA-4EC0-B364-D61D838CE74A}"/>
              </a:ext>
            </a:extLst>
          </p:cNvPr>
          <p:cNvSpPr>
            <a:spLocks xmlns:a="http://schemas.openxmlformats.org/drawingml/2006/main" noGrp="1"/>
          </p:cNvSpPr>
          <p:nvPr/>
        </p:nvSpPr>
        <p:spPr>
          <a:xfrm xmlns:a="http://schemas.openxmlformats.org/drawingml/2006/main">
            <a:off x="2667000" y="28956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9BDCC"/>
                </a:solidFill>
              </a:defRPr>
            </a:defPPr>
          </a:lstStyle>
          <a:p xmlns:a="http://schemas.openxmlformats.org/drawingml/2006/main">
            <a:pPr>
              <a:defRPr sz="1050">
                <a:solidFill>
                  <a:srgbClr val="A9BDCC"/>
                </a:solidFill>
              </a:defRPr>
            </a:pPr>
            <a:r>
              <a:rPr sz="1050">
                <a:solidFill>
                  <a:srgbClr val="A9BDCC"/>
                </a:solidFill>
              </a:rPr>
              <a:t>phối cảnh / sáng</a:t>
            </a:r>
          </a:p>
        </p:txBody>
      </p:sp>
      <p:sp>
        <p:nvSpPr>
          <p:cNvPr id="13" name="">
            <a:extLst xmlns:a="http://schemas.openxmlformats.org/drawingml/2006/main">
              <a:ext uri="{FF2B5EF4-FFF2-40B4-BE49-F238E27FC236}">
                <a16:creationId xmlns:a16="http://schemas.microsoft.com/office/drawing/2014/main" id="{0E808DA9-417B-478D-B696-DD538835ABF1}"/>
              </a:ext>
            </a:extLst>
          </p:cNvPr>
          <p:cNvSpPr>
            <a:spLocks xmlns:a="http://schemas.openxmlformats.org/drawingml/2006/main" noGrp="1"/>
          </p:cNvSpPr>
          <p:nvPr/>
        </p:nvSpPr>
        <p:spPr>
          <a:xfrm xmlns:a="http://schemas.openxmlformats.org/drawingml/2006/main">
            <a:off x="4076700" y="2952750"/>
            <a:ext cx="30480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64ECBF7-2A93-45B6-9DF8-5B232876E4C3}"/>
              </a:ext>
            </a:extLst>
          </p:cNvPr>
          <p:cNvSpPr>
            <a:spLocks xmlns:a="http://schemas.openxmlformats.org/drawingml/2006/main" noGrp="1"/>
          </p:cNvSpPr>
          <p:nvPr/>
        </p:nvSpPr>
        <p:spPr>
          <a:xfrm xmlns:a="http://schemas.openxmlformats.org/drawingml/2006/main">
            <a:off x="4476750" y="2381250"/>
            <a:ext cx="1428750" cy="1047750"/>
          </a:xfrm>
          <a:prstGeom xmlns:a="http://schemas.openxmlformats.org/drawingml/2006/main" prst="roundRect">
            <a:avLst>
              <a:gd name="adj" fmla="val 7273"/>
            </a:avLst>
          </a:prstGeom>
          <a:solidFill xmlns:a="http://schemas.openxmlformats.org/drawingml/2006/main">
            <a:srgbClr val="102C46"/>
          </a:solidFill>
          <a:ln xmlns:a="http://schemas.openxmlformats.org/drawingml/2006/main" w="9525">
            <a:solidFill>
              <a:srgbClr val="31556D"/>
            </a:solidFill>
            <a:prstDash val="solid"/>
          </a:ln>
        </p:spPr>
      </p:sp>
      <p:sp>
        <p:nvSpPr>
          <p:cNvPr id="15" name="">
            <a:extLst xmlns:a="http://schemas.openxmlformats.org/drawingml/2006/main">
              <a:ext uri="{FF2B5EF4-FFF2-40B4-BE49-F238E27FC236}">
                <a16:creationId xmlns:a16="http://schemas.microsoft.com/office/drawing/2014/main" id="{C3790A3A-1801-450C-ACFB-A2A16C8E2A35}"/>
              </a:ext>
            </a:extLst>
          </p:cNvPr>
          <p:cNvSpPr>
            <a:spLocks xmlns:a="http://schemas.openxmlformats.org/drawingml/2006/main" noGrp="1"/>
          </p:cNvSpPr>
          <p:nvPr/>
        </p:nvSpPr>
        <p:spPr>
          <a:xfrm xmlns:a="http://schemas.openxmlformats.org/drawingml/2006/main">
            <a:off x="4572000" y="2571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Giảm nhiễu</a:t>
            </a:r>
          </a:p>
        </p:txBody>
      </p:sp>
      <p:sp>
        <p:nvSpPr>
          <p:cNvPr id="16" name="">
            <a:extLst xmlns:a="http://schemas.openxmlformats.org/drawingml/2006/main">
              <a:ext uri="{FF2B5EF4-FFF2-40B4-BE49-F238E27FC236}">
                <a16:creationId xmlns:a16="http://schemas.microsoft.com/office/drawing/2014/main" id="{94B05AE9-9618-44FC-96F8-3498D2E54D48}"/>
              </a:ext>
            </a:extLst>
          </p:cNvPr>
          <p:cNvSpPr>
            <a:spLocks xmlns:a="http://schemas.openxmlformats.org/drawingml/2006/main" noGrp="1"/>
          </p:cNvSpPr>
          <p:nvPr/>
        </p:nvSpPr>
        <p:spPr>
          <a:xfrm xmlns:a="http://schemas.openxmlformats.org/drawingml/2006/main">
            <a:off x="4572000" y="28956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9BDCC"/>
                </a:solidFill>
              </a:defRPr>
            </a:defPPr>
          </a:lstStyle>
          <a:p xmlns:a="http://schemas.openxmlformats.org/drawingml/2006/main">
            <a:pPr>
              <a:defRPr sz="1050">
                <a:solidFill>
                  <a:srgbClr val="A9BDCC"/>
                </a:solidFill>
              </a:defRPr>
            </a:pPr>
            <a:r>
              <a:rPr sz="1050">
                <a:solidFill>
                  <a:srgbClr val="A9BDCC"/>
                </a:solidFill>
              </a:rPr>
              <a:t>lọc phù hợp</a:t>
            </a:r>
          </a:p>
        </p:txBody>
      </p:sp>
      <p:sp>
        <p:nvSpPr>
          <p:cNvPr id="17" name="">
            <a:extLst xmlns:a="http://schemas.openxmlformats.org/drawingml/2006/main">
              <a:ext uri="{FF2B5EF4-FFF2-40B4-BE49-F238E27FC236}">
                <a16:creationId xmlns:a16="http://schemas.microsoft.com/office/drawing/2014/main" id="{1B0D2468-FBD5-4510-9479-EB3A57D3CD64}"/>
              </a:ext>
            </a:extLst>
          </p:cNvPr>
          <p:cNvSpPr>
            <a:spLocks xmlns:a="http://schemas.openxmlformats.org/drawingml/2006/main" noGrp="1"/>
          </p:cNvSpPr>
          <p:nvPr/>
        </p:nvSpPr>
        <p:spPr>
          <a:xfrm xmlns:a="http://schemas.openxmlformats.org/drawingml/2006/main">
            <a:off x="5981700" y="2952750"/>
            <a:ext cx="30480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2ADA7A9-0E81-4B7B-AB77-EDE28125C02B}"/>
              </a:ext>
            </a:extLst>
          </p:cNvPr>
          <p:cNvSpPr>
            <a:spLocks xmlns:a="http://schemas.openxmlformats.org/drawingml/2006/main" noGrp="1"/>
          </p:cNvSpPr>
          <p:nvPr/>
        </p:nvSpPr>
        <p:spPr>
          <a:xfrm xmlns:a="http://schemas.openxmlformats.org/drawingml/2006/main">
            <a:off x="6381750" y="2381250"/>
            <a:ext cx="1428750" cy="1047750"/>
          </a:xfrm>
          <a:prstGeom xmlns:a="http://schemas.openxmlformats.org/drawingml/2006/main" prst="roundRect">
            <a:avLst>
              <a:gd name="adj" fmla="val 7273"/>
            </a:avLst>
          </a:prstGeom>
          <a:solidFill xmlns:a="http://schemas.openxmlformats.org/drawingml/2006/main">
            <a:srgbClr val="163A5C"/>
          </a:solidFill>
          <a:ln xmlns:a="http://schemas.openxmlformats.org/drawingml/2006/main" w="9525">
            <a:solidFill>
              <a:srgbClr val="19D3E6"/>
            </a:solidFill>
            <a:prstDash val="solid"/>
          </a:ln>
        </p:spPr>
      </p:sp>
      <p:sp>
        <p:nvSpPr>
          <p:cNvPr id="19" name="">
            <a:extLst xmlns:a="http://schemas.openxmlformats.org/drawingml/2006/main">
              <a:ext uri="{FF2B5EF4-FFF2-40B4-BE49-F238E27FC236}">
                <a16:creationId xmlns:a16="http://schemas.microsoft.com/office/drawing/2014/main" id="{55B71754-8502-4AB3-9613-F635EFD84D11}"/>
              </a:ext>
            </a:extLst>
          </p:cNvPr>
          <p:cNvSpPr>
            <a:spLocks xmlns:a="http://schemas.openxmlformats.org/drawingml/2006/main" noGrp="1"/>
          </p:cNvSpPr>
          <p:nvPr/>
        </p:nvSpPr>
        <p:spPr>
          <a:xfrm xmlns:a="http://schemas.openxmlformats.org/drawingml/2006/main">
            <a:off x="6477000" y="2571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Phân tích biên</a:t>
            </a:r>
          </a:p>
        </p:txBody>
      </p:sp>
      <p:sp>
        <p:nvSpPr>
          <p:cNvPr id="20" name="">
            <a:extLst xmlns:a="http://schemas.openxmlformats.org/drawingml/2006/main">
              <a:ext uri="{FF2B5EF4-FFF2-40B4-BE49-F238E27FC236}">
                <a16:creationId xmlns:a16="http://schemas.microsoft.com/office/drawing/2014/main" id="{BF9BF89D-5CF6-485E-9B79-665A8D8A3D70}"/>
              </a:ext>
            </a:extLst>
          </p:cNvPr>
          <p:cNvSpPr>
            <a:spLocks xmlns:a="http://schemas.openxmlformats.org/drawingml/2006/main" noGrp="1"/>
          </p:cNvSpPr>
          <p:nvPr/>
        </p:nvSpPr>
        <p:spPr>
          <a:xfrm xmlns:a="http://schemas.openxmlformats.org/drawingml/2006/main">
            <a:off x="6477000" y="28956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8FEAF2"/>
                </a:solidFill>
              </a:defRPr>
            </a:defPPr>
          </a:lstStyle>
          <a:p xmlns:a="http://schemas.openxmlformats.org/drawingml/2006/main">
            <a:pPr>
              <a:defRPr sz="1050">
                <a:solidFill>
                  <a:srgbClr val="8FEAF2"/>
                </a:solidFill>
              </a:defRPr>
            </a:pPr>
            <a:r>
              <a:rPr sz="1050">
                <a:solidFill>
                  <a:srgbClr val="8FEAF2"/>
                </a:solidFill>
              </a:rPr>
              <a:t>Canny / Sobel</a:t>
            </a:r>
          </a:p>
        </p:txBody>
      </p:sp>
      <p:sp>
        <p:nvSpPr>
          <p:cNvPr id="21" name="">
            <a:extLst xmlns:a="http://schemas.openxmlformats.org/drawingml/2006/main">
              <a:ext uri="{FF2B5EF4-FFF2-40B4-BE49-F238E27FC236}">
                <a16:creationId xmlns:a16="http://schemas.microsoft.com/office/drawing/2014/main" id="{CB83A282-3517-4206-9AAC-181D33FA8E35}"/>
              </a:ext>
            </a:extLst>
          </p:cNvPr>
          <p:cNvSpPr>
            <a:spLocks xmlns:a="http://schemas.openxmlformats.org/drawingml/2006/main" noGrp="1"/>
          </p:cNvSpPr>
          <p:nvPr/>
        </p:nvSpPr>
        <p:spPr>
          <a:xfrm xmlns:a="http://schemas.openxmlformats.org/drawingml/2006/main">
            <a:off x="7886700" y="2952750"/>
            <a:ext cx="30480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F8185D7-6E04-459E-9DB9-FCF187E26CB2}"/>
              </a:ext>
            </a:extLst>
          </p:cNvPr>
          <p:cNvSpPr>
            <a:spLocks xmlns:a="http://schemas.openxmlformats.org/drawingml/2006/main" noGrp="1"/>
          </p:cNvSpPr>
          <p:nvPr/>
        </p:nvSpPr>
        <p:spPr>
          <a:xfrm xmlns:a="http://schemas.openxmlformats.org/drawingml/2006/main">
            <a:off x="8286750" y="2381250"/>
            <a:ext cx="1428750" cy="1047750"/>
          </a:xfrm>
          <a:prstGeom xmlns:a="http://schemas.openxmlformats.org/drawingml/2006/main" prst="roundRect">
            <a:avLst>
              <a:gd name="adj" fmla="val 7273"/>
            </a:avLst>
          </a:prstGeom>
          <a:solidFill xmlns:a="http://schemas.openxmlformats.org/drawingml/2006/main">
            <a:srgbClr val="102C46"/>
          </a:solidFill>
          <a:ln xmlns:a="http://schemas.openxmlformats.org/drawingml/2006/main" w="9525">
            <a:solidFill>
              <a:srgbClr val="31556D"/>
            </a:solidFill>
            <a:prstDash val="solid"/>
          </a:ln>
        </p:spPr>
      </p:sp>
      <p:sp>
        <p:nvSpPr>
          <p:cNvPr id="23" name="">
            <a:extLst xmlns:a="http://schemas.openxmlformats.org/drawingml/2006/main">
              <a:ext uri="{FF2B5EF4-FFF2-40B4-BE49-F238E27FC236}">
                <a16:creationId xmlns:a16="http://schemas.microsoft.com/office/drawing/2014/main" id="{479325A3-D36E-4DA8-B8DF-205DCFB06184}"/>
              </a:ext>
            </a:extLst>
          </p:cNvPr>
          <p:cNvSpPr>
            <a:spLocks xmlns:a="http://schemas.openxmlformats.org/drawingml/2006/main" noGrp="1"/>
          </p:cNvSpPr>
          <p:nvPr/>
        </p:nvSpPr>
        <p:spPr>
          <a:xfrm xmlns:a="http://schemas.openxmlformats.org/drawingml/2006/main">
            <a:off x="8382000" y="2571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Khoanh vùng</a:t>
            </a:r>
          </a:p>
        </p:txBody>
      </p:sp>
      <p:sp>
        <p:nvSpPr>
          <p:cNvPr id="24" name="">
            <a:extLst xmlns:a="http://schemas.openxmlformats.org/drawingml/2006/main">
              <a:ext uri="{FF2B5EF4-FFF2-40B4-BE49-F238E27FC236}">
                <a16:creationId xmlns:a16="http://schemas.microsoft.com/office/drawing/2014/main" id="{45057F56-9DD0-4CC4-9FFA-81F6EB1C8163}"/>
              </a:ext>
            </a:extLst>
          </p:cNvPr>
          <p:cNvSpPr>
            <a:spLocks xmlns:a="http://schemas.openxmlformats.org/drawingml/2006/main" noGrp="1"/>
          </p:cNvSpPr>
          <p:nvPr/>
        </p:nvSpPr>
        <p:spPr>
          <a:xfrm xmlns:a="http://schemas.openxmlformats.org/drawingml/2006/main">
            <a:off x="8382000" y="28956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9BDCC"/>
                </a:solidFill>
              </a:defRPr>
            </a:defPPr>
          </a:lstStyle>
          <a:p xmlns:a="http://schemas.openxmlformats.org/drawingml/2006/main">
            <a:pPr>
              <a:defRPr sz="1050">
                <a:solidFill>
                  <a:srgbClr val="A9BDCC"/>
                </a:solidFill>
              </a:defRPr>
            </a:pPr>
            <a:r>
              <a:rPr sz="1050">
                <a:solidFill>
                  <a:srgbClr val="A9BDCC"/>
                </a:solidFill>
              </a:rPr>
              <a:t>logic / mask</a:t>
            </a:r>
          </a:p>
        </p:txBody>
      </p:sp>
      <p:sp>
        <p:nvSpPr>
          <p:cNvPr id="25" name="">
            <a:extLst xmlns:a="http://schemas.openxmlformats.org/drawingml/2006/main">
              <a:ext uri="{FF2B5EF4-FFF2-40B4-BE49-F238E27FC236}">
                <a16:creationId xmlns:a16="http://schemas.microsoft.com/office/drawing/2014/main" id="{56C2C70D-53D6-4D2A-AF8B-77CB6A33E5D6}"/>
              </a:ext>
            </a:extLst>
          </p:cNvPr>
          <p:cNvSpPr>
            <a:spLocks xmlns:a="http://schemas.openxmlformats.org/drawingml/2006/main" noGrp="1"/>
          </p:cNvSpPr>
          <p:nvPr/>
        </p:nvSpPr>
        <p:spPr>
          <a:xfrm xmlns:a="http://schemas.openxmlformats.org/drawingml/2006/main">
            <a:off x="9791700" y="2952750"/>
            <a:ext cx="304800" cy="266700"/>
          </a:xfrm>
          <a:prstGeom xmlns:a="http://schemas.openxmlformats.org/drawingml/2006/main" prst="rightArrow">
            <a:avLst/>
          </a:prstGeom>
          <a:solidFill xmlns:a="http://schemas.openxmlformats.org/drawingml/2006/main">
            <a:srgbClr val="19D3E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B63C244-11B7-46B6-A868-862050116E20}"/>
              </a:ext>
            </a:extLst>
          </p:cNvPr>
          <p:cNvSpPr>
            <a:spLocks xmlns:a="http://schemas.openxmlformats.org/drawingml/2006/main" noGrp="1"/>
          </p:cNvSpPr>
          <p:nvPr/>
        </p:nvSpPr>
        <p:spPr>
          <a:xfrm xmlns:a="http://schemas.openxmlformats.org/drawingml/2006/main">
            <a:off x="10191750" y="2381250"/>
            <a:ext cx="1428750" cy="1047750"/>
          </a:xfrm>
          <a:prstGeom xmlns:a="http://schemas.openxmlformats.org/drawingml/2006/main" prst="roundRect">
            <a:avLst>
              <a:gd name="adj" fmla="val 7273"/>
            </a:avLst>
          </a:prstGeom>
          <a:solidFill xmlns:a="http://schemas.openxmlformats.org/drawingml/2006/main">
            <a:srgbClr val="102C46"/>
          </a:solidFill>
          <a:ln xmlns:a="http://schemas.openxmlformats.org/drawingml/2006/main" w="9525">
            <a:solidFill>
              <a:srgbClr val="31556D"/>
            </a:solidFill>
            <a:prstDash val="solid"/>
          </a:ln>
        </p:spPr>
      </p:sp>
      <p:sp>
        <p:nvSpPr>
          <p:cNvPr id="27" name="">
            <a:extLst xmlns:a="http://schemas.openxmlformats.org/drawingml/2006/main">
              <a:ext uri="{FF2B5EF4-FFF2-40B4-BE49-F238E27FC236}">
                <a16:creationId xmlns:a16="http://schemas.microsoft.com/office/drawing/2014/main" id="{C42237B2-54BF-488F-861E-B677F5DF1272}"/>
              </a:ext>
            </a:extLst>
          </p:cNvPr>
          <p:cNvSpPr>
            <a:spLocks xmlns:a="http://schemas.openxmlformats.org/drawingml/2006/main" noGrp="1"/>
          </p:cNvSpPr>
          <p:nvPr/>
        </p:nvSpPr>
        <p:spPr>
          <a:xfrm xmlns:a="http://schemas.openxmlformats.org/drawingml/2006/main">
            <a:off x="10287000" y="2571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6FBFF"/>
                </a:solidFill>
              </a:defRPr>
            </a:defPPr>
          </a:lstStyle>
          <a:p xmlns:a="http://schemas.openxmlformats.org/drawingml/2006/main">
            <a:pPr>
              <a:defRPr sz="1200" b="1">
                <a:solidFill>
                  <a:srgbClr val="F6FBFF"/>
                </a:solidFill>
              </a:defRPr>
            </a:pPr>
            <a:r>
              <a:rPr sz="1200" b="1">
                <a:solidFill>
                  <a:srgbClr val="F6FBFF"/>
                </a:solidFill>
              </a:rPr>
              <a:t>Nhận diện lỗi</a:t>
            </a:r>
          </a:p>
        </p:txBody>
      </p:sp>
      <p:sp>
        <p:nvSpPr>
          <p:cNvPr id="28" name="">
            <a:extLst xmlns:a="http://schemas.openxmlformats.org/drawingml/2006/main">
              <a:ext uri="{FF2B5EF4-FFF2-40B4-BE49-F238E27FC236}">
                <a16:creationId xmlns:a16="http://schemas.microsoft.com/office/drawing/2014/main" id="{7650E61D-30F9-4423-8DE3-BDC40F5D9A43}"/>
              </a:ext>
            </a:extLst>
          </p:cNvPr>
          <p:cNvSpPr>
            <a:spLocks xmlns:a="http://schemas.openxmlformats.org/drawingml/2006/main" noGrp="1"/>
          </p:cNvSpPr>
          <p:nvPr/>
        </p:nvSpPr>
        <p:spPr>
          <a:xfrm xmlns:a="http://schemas.openxmlformats.org/drawingml/2006/main">
            <a:off x="10287000" y="28956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9BDCC"/>
                </a:solidFill>
              </a:defRPr>
            </a:defPPr>
          </a:lstStyle>
          <a:p xmlns:a="http://schemas.openxmlformats.org/drawingml/2006/main">
            <a:pPr>
              <a:defRPr sz="1050">
                <a:solidFill>
                  <a:srgbClr val="A9BDCC"/>
                </a:solidFill>
              </a:defRPr>
            </a:pPr>
            <a:r>
              <a:rPr sz="1050">
                <a:solidFill>
                  <a:srgbClr val="A9BDCC"/>
                </a:solidFill>
              </a:rPr>
              <a:t>AI nếu cần</a:t>
            </a:r>
          </a:p>
        </p:txBody>
      </p:sp>
      <p:sp>
        <p:nvSpPr>
          <p:cNvPr id="29" name="">
            <a:extLst xmlns:a="http://schemas.openxmlformats.org/drawingml/2006/main">
              <a:ext uri="{FF2B5EF4-FFF2-40B4-BE49-F238E27FC236}">
                <a16:creationId xmlns:a16="http://schemas.microsoft.com/office/drawing/2014/main" id="{A469898B-88E7-4031-AB8E-B1D31A54BEB0}"/>
              </a:ext>
            </a:extLst>
          </p:cNvPr>
          <p:cNvSpPr>
            <a:spLocks xmlns:a="http://schemas.openxmlformats.org/drawingml/2006/main" noGrp="1"/>
          </p:cNvSpPr>
          <p:nvPr/>
        </p:nvSpPr>
        <p:spPr>
          <a:xfrm xmlns:a="http://schemas.openxmlformats.org/drawingml/2006/main">
            <a:off x="666750" y="4095750"/>
            <a:ext cx="4762500" cy="1333500"/>
          </a:xfrm>
          <a:prstGeom xmlns:a="http://schemas.openxmlformats.org/drawingml/2006/main" prst="roundRect">
            <a:avLst>
              <a:gd name="adj" fmla="val 8571"/>
            </a:avLst>
          </a:prstGeom>
          <a:solidFill xmlns:a="http://schemas.openxmlformats.org/drawingml/2006/main">
            <a:srgbClr val="102C46"/>
          </a:solidFill>
          <a:ln xmlns:a="http://schemas.openxmlformats.org/drawingml/2006/main" w="9525">
            <a:solidFill>
              <a:srgbClr val="19D3E6"/>
            </a:solidFill>
            <a:prstDash val="solid"/>
          </a:ln>
        </p:spPr>
      </p:sp>
      <p:sp>
        <p:nvSpPr>
          <p:cNvPr id="30" name="">
            <a:extLst xmlns:a="http://schemas.openxmlformats.org/drawingml/2006/main">
              <a:ext uri="{FF2B5EF4-FFF2-40B4-BE49-F238E27FC236}">
                <a16:creationId xmlns:a16="http://schemas.microsoft.com/office/drawing/2014/main" id="{B1234787-B361-4CD3-A12D-16BF43BC322F}"/>
              </a:ext>
            </a:extLst>
          </p:cNvPr>
          <p:cNvSpPr>
            <a:spLocks xmlns:a="http://schemas.openxmlformats.org/drawingml/2006/main" noGrp="1"/>
          </p:cNvSpPr>
          <p:nvPr/>
        </p:nvSpPr>
        <p:spPr>
          <a:xfrm xmlns:a="http://schemas.openxmlformats.org/drawingml/2006/main">
            <a:off x="933450" y="43243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9D3E6"/>
                </a:solidFill>
              </a:defRPr>
            </a:defPPr>
          </a:lstStyle>
          <a:p xmlns:a="http://schemas.openxmlformats.org/drawingml/2006/main">
            <a:pPr>
              <a:defRPr sz="1650" b="1">
                <a:solidFill>
                  <a:srgbClr val="19D3E6"/>
                </a:solidFill>
              </a:defRPr>
            </a:pPr>
            <a:r>
              <a:rPr sz="1650" b="1">
                <a:solidFill>
                  <a:srgbClr val="19D3E6"/>
                </a:solidFill>
              </a:rPr>
              <a:t>Phát hiện biên</a:t>
            </a:r>
          </a:p>
        </p:txBody>
      </p:sp>
      <p:sp>
        <p:nvSpPr>
          <p:cNvPr id="31" name="">
            <a:extLst xmlns:a="http://schemas.openxmlformats.org/drawingml/2006/main">
              <a:ext uri="{FF2B5EF4-FFF2-40B4-BE49-F238E27FC236}">
                <a16:creationId xmlns:a16="http://schemas.microsoft.com/office/drawing/2014/main" id="{EB2995C3-4B60-4405-AE78-35AE27A2795A}"/>
              </a:ext>
            </a:extLst>
          </p:cNvPr>
          <p:cNvSpPr>
            <a:spLocks xmlns:a="http://schemas.openxmlformats.org/drawingml/2006/main" noGrp="1"/>
          </p:cNvSpPr>
          <p:nvPr/>
        </p:nvSpPr>
        <p:spPr>
          <a:xfrm xmlns:a="http://schemas.openxmlformats.org/drawingml/2006/main">
            <a:off x="933450" y="47815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6FBFF"/>
                </a:solidFill>
              </a:defRPr>
            </a:defPPr>
          </a:lstStyle>
          <a:p xmlns:a="http://schemas.openxmlformats.org/drawingml/2006/main">
            <a:pPr>
              <a:defRPr sz="1350">
                <a:solidFill>
                  <a:srgbClr val="F6FBFF"/>
                </a:solidFill>
              </a:defRPr>
            </a:pPr>
            <a:r>
              <a:rPr sz="1350">
                <a:solidFill>
                  <a:srgbClr val="F6FBFF"/>
                </a:solidFill>
              </a:rPr>
              <a:t>Tìm vị trí có biến thiên cường độ sáng lớn.</a:t>
            </a:r>
          </a:p>
        </p:txBody>
      </p:sp>
      <p:sp>
        <p:nvSpPr>
          <p:cNvPr id="32" name="">
            <a:extLst xmlns:a="http://schemas.openxmlformats.org/drawingml/2006/main">
              <a:ext uri="{FF2B5EF4-FFF2-40B4-BE49-F238E27FC236}">
                <a16:creationId xmlns:a16="http://schemas.microsoft.com/office/drawing/2014/main" id="{C78B57C9-72CD-4EDA-A830-287CBE06F7CB}"/>
              </a:ext>
            </a:extLst>
          </p:cNvPr>
          <p:cNvSpPr>
            <a:spLocks xmlns:a="http://schemas.openxmlformats.org/drawingml/2006/main" noGrp="1"/>
          </p:cNvSpPr>
          <p:nvPr/>
        </p:nvSpPr>
        <p:spPr>
          <a:xfrm xmlns:a="http://schemas.openxmlformats.org/drawingml/2006/main">
            <a:off x="6286500" y="4095750"/>
            <a:ext cx="4953000" cy="1333500"/>
          </a:xfrm>
          <a:prstGeom xmlns:a="http://schemas.openxmlformats.org/drawingml/2006/main" prst="roundRect">
            <a:avLst>
              <a:gd name="adj" fmla="val 8571"/>
            </a:avLst>
          </a:prstGeom>
          <a:solidFill xmlns:a="http://schemas.openxmlformats.org/drawingml/2006/main">
            <a:srgbClr val="102C46"/>
          </a:solidFill>
          <a:ln xmlns:a="http://schemas.openxmlformats.org/drawingml/2006/main" w="9525">
            <a:solidFill>
              <a:srgbClr val="57D0A4"/>
            </a:solidFill>
            <a:prstDash val="solid"/>
          </a:ln>
        </p:spPr>
      </p:sp>
      <p:sp>
        <p:nvSpPr>
          <p:cNvPr id="33" name="">
            <a:extLst xmlns:a="http://schemas.openxmlformats.org/drawingml/2006/main">
              <a:ext uri="{FF2B5EF4-FFF2-40B4-BE49-F238E27FC236}">
                <a16:creationId xmlns:a16="http://schemas.microsoft.com/office/drawing/2014/main" id="{EE292E89-DF53-426B-89B8-A04A6E0E1565}"/>
              </a:ext>
            </a:extLst>
          </p:cNvPr>
          <p:cNvSpPr>
            <a:spLocks xmlns:a="http://schemas.openxmlformats.org/drawingml/2006/main" noGrp="1"/>
          </p:cNvSpPr>
          <p:nvPr/>
        </p:nvSpPr>
        <p:spPr>
          <a:xfrm xmlns:a="http://schemas.openxmlformats.org/drawingml/2006/main">
            <a:off x="6553200" y="43243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57D0A4"/>
                </a:solidFill>
              </a:defRPr>
            </a:defPPr>
          </a:lstStyle>
          <a:p xmlns:a="http://schemas.openxmlformats.org/drawingml/2006/main">
            <a:pPr>
              <a:defRPr sz="1650" b="1">
                <a:solidFill>
                  <a:srgbClr val="57D0A4"/>
                </a:solidFill>
              </a:defRPr>
            </a:pPr>
            <a:r>
              <a:rPr sz="1650" b="1">
                <a:solidFill>
                  <a:srgbClr val="57D0A4"/>
                </a:solidFill>
              </a:rPr>
              <a:t>Phát hiện lỗi</a:t>
            </a:r>
          </a:p>
        </p:txBody>
      </p:sp>
      <p:sp>
        <p:nvSpPr>
          <p:cNvPr id="34" name="">
            <a:extLst xmlns:a="http://schemas.openxmlformats.org/drawingml/2006/main">
              <a:ext uri="{FF2B5EF4-FFF2-40B4-BE49-F238E27FC236}">
                <a16:creationId xmlns:a16="http://schemas.microsoft.com/office/drawing/2014/main" id="{730ABAA2-D046-431C-9212-6AE86A76A2BE}"/>
              </a:ext>
            </a:extLst>
          </p:cNvPr>
          <p:cNvSpPr>
            <a:spLocks xmlns:a="http://schemas.openxmlformats.org/drawingml/2006/main" noGrp="1"/>
          </p:cNvSpPr>
          <p:nvPr/>
        </p:nvSpPr>
        <p:spPr>
          <a:xfrm xmlns:a="http://schemas.openxmlformats.org/drawingml/2006/main">
            <a:off x="6553200" y="478155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6FBFF"/>
                </a:solidFill>
              </a:defRPr>
            </a:defPPr>
          </a:lstStyle>
          <a:p xmlns:a="http://schemas.openxmlformats.org/drawingml/2006/main">
            <a:pPr>
              <a:defRPr sz="1350">
                <a:solidFill>
                  <a:srgbClr val="F6FBFF"/>
                </a:solidFill>
              </a:defRPr>
            </a:pPr>
            <a:r>
              <a:rPr sz="1350">
                <a:solidFill>
                  <a:srgbClr val="F6FBFF"/>
                </a:solidFill>
              </a:rPr>
              <a:t>Cần thêm tiêu chí hình dạng, ngữ cảnh hoặc mô hình để quyết định đó là lỗi.</a:t>
            </a:r>
          </a:p>
        </p:txBody>
      </p:sp>
      <p:sp>
        <p:nvSpPr>
          <p:cNvPr id="35" name="">
            <a:extLst xmlns:a="http://schemas.openxmlformats.org/drawingml/2006/main">
              <a:ext uri="{FF2B5EF4-FFF2-40B4-BE49-F238E27FC236}">
                <a16:creationId xmlns:a16="http://schemas.microsoft.com/office/drawing/2014/main" id="{A4E95DAA-273C-46E5-A66E-C92EC3C34181}"/>
              </a:ext>
            </a:extLst>
          </p:cNvPr>
          <p:cNvSpPr>
            <a:spLocks xmlns:a="http://schemas.openxmlformats.org/drawingml/2006/main" noGrp="1"/>
          </p:cNvSpPr>
          <p:nvPr/>
        </p:nvSpPr>
        <p:spPr>
          <a:xfrm xmlns:a="http://schemas.openxmlformats.org/drawingml/2006/main">
            <a:off x="666750" y="5905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FEAF2"/>
                </a:solidFill>
              </a:defRPr>
            </a:defPPr>
          </a:lstStyle>
          <a:p xmlns:a="http://schemas.openxmlformats.org/drawingml/2006/main">
            <a:pPr>
              <a:defRPr sz="1275" b="1">
                <a:solidFill>
                  <a:srgbClr val="8FEAF2"/>
                </a:solidFill>
              </a:defRPr>
            </a:pPr>
            <a:r>
              <a:rPr sz="1275" b="1">
                <a:solidFill>
                  <a:srgbClr val="8FEAF2"/>
                </a:solidFill>
              </a:rPr>
              <a:t>Ví dụ trên ảnh điện thoại là đề xuất minh họa. Độ chính xác cần được kiểm chứng bằng dữ liệu thực tế của đồ án.</a:t>
            </a:r>
          </a:p>
        </p:txBody>
      </p:sp>
    </p:spTree>
    <p:extLst>
      <p:ext uri="{BB962C8B-B14F-4D97-AF65-F5344CB8AC3E}">
        <p14:creationId xmlns:p14="http://schemas.microsoft.com/office/powerpoint/2010/main" val="642825580"/>
      </p:ext>
    </p:extLst>
  </p:cSld>
</p:sld>
</file>

<file path=ppt/slides/slide9.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BF661A5-CC83-4928-8818-663D2D9B963C}"/>
              </a:ext>
            </a:extLst>
          </p:cNvPr>
          <p:cNvSpPr>
            <a:spLocks xmlns:a="http://schemas.openxmlformats.org/drawingml/2006/main" noGrp="1"/>
          </p:cNvSpPr>
          <p:nvPr/>
        </p:nvSpPr>
        <p:spPr>
          <a:xfrm xmlns:a="http://schemas.openxmlformats.org/drawingml/2006/main">
            <a:off x="6477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9D3E6"/>
                </a:solidFill>
              </a:defRPr>
            </a:defPPr>
          </a:lstStyle>
          <a:p xmlns:a="http://schemas.openxmlformats.org/drawingml/2006/main">
            <a:pPr>
              <a:defRPr sz="975" b="1">
                <a:solidFill>
                  <a:srgbClr val="19D3E6"/>
                </a:solidFill>
              </a:defRPr>
            </a:pPr>
            <a:r>
              <a:rPr sz="975" b="1">
                <a:solidFill>
                  <a:srgbClr val="19D3E6"/>
                </a:solidFill>
              </a:rPr>
              <a:t>08 · KẾT LUẬN</a:t>
            </a:r>
          </a:p>
        </p:txBody>
      </p:sp>
      <p:sp>
        <p:nvSpPr>
          <p:cNvPr id="2" name="">
            <a:extLst xmlns:a="http://schemas.openxmlformats.org/drawingml/2006/main">
              <a:ext uri="{FF2B5EF4-FFF2-40B4-BE49-F238E27FC236}">
                <a16:creationId xmlns:a16="http://schemas.microsoft.com/office/drawing/2014/main" id="{356F8E5B-F554-4FE0-8D71-D1D703DAD77D}"/>
              </a:ext>
            </a:extLst>
          </p:cNvPr>
          <p:cNvSpPr>
            <a:spLocks xmlns:a="http://schemas.openxmlformats.org/drawingml/2006/main" noGrp="1"/>
          </p:cNvSpPr>
          <p:nvPr/>
        </p:nvSpPr>
        <p:spPr>
          <a:xfrm xmlns:a="http://schemas.openxmlformats.org/drawingml/2006/main">
            <a:off x="647700" y="6096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6FBFF"/>
                </a:solidFill>
              </a:defRPr>
            </a:defPPr>
          </a:lstStyle>
          <a:p xmlns:a="http://schemas.openxmlformats.org/drawingml/2006/main">
            <a:pPr>
              <a:defRPr sz="2550" b="1">
                <a:solidFill>
                  <a:srgbClr val="F6FBFF"/>
                </a:solidFill>
              </a:defRPr>
            </a:pPr>
            <a:r>
              <a:rPr sz="2550" b="1">
                <a:solidFill>
                  <a:srgbClr val="F6FBFF"/>
                </a:solidFill>
              </a:rPr>
              <a:t>Edge Feature là tín hiệu hỗ trợ cho bài toán lỗi ngoại quan</a:t>
            </a:r>
          </a:p>
        </p:txBody>
      </p:sp>
      <p:sp>
        <p:nvSpPr>
          <p:cNvPr id="3" name="">
            <a:extLst xmlns:a="http://schemas.openxmlformats.org/drawingml/2006/main">
              <a:ext uri="{FF2B5EF4-FFF2-40B4-BE49-F238E27FC236}">
                <a16:creationId xmlns:a16="http://schemas.microsoft.com/office/drawing/2014/main" id="{DCC0F50B-6433-459D-8E3F-4A1F8CEF131B}"/>
              </a:ext>
            </a:extLst>
          </p:cNvPr>
          <p:cNvSpPr>
            <a:spLocks xmlns:a="http://schemas.openxmlformats.org/drawingml/2006/main" noGrp="1"/>
          </p:cNvSpPr>
          <p:nvPr/>
        </p:nvSpPr>
        <p:spPr>
          <a:xfrm xmlns:a="http://schemas.openxmlformats.org/drawingml/2006/main">
            <a:off x="647700" y="1181100"/>
            <a:ext cx="857250" cy="38100"/>
          </a:xfrm>
          <a:prstGeom xmlns:a="http://schemas.openxmlformats.org/drawingml/2006/main" prst="rect">
            <a:avLst/>
          </a:prstGeom>
          <a:solidFill xmlns:a="http://schemas.openxmlformats.org/drawingml/2006/main">
            <a:srgbClr val="19D3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D09DE84-A68A-4690-BBF7-E5D4D5B62F8B}"/>
              </a:ext>
            </a:extLst>
          </p:cNvPr>
          <p:cNvSpPr>
            <a:spLocks xmlns:a="http://schemas.openxmlformats.org/drawingml/2006/main" noGrp="1"/>
          </p:cNvSpPr>
          <p:nvPr/>
        </p:nvSpPr>
        <p:spPr>
          <a:xfrm xmlns:a="http://schemas.openxmlformats.org/drawingml/2006/main">
            <a:off x="11239500" y="323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BDCC"/>
                </a:solidFill>
              </a:defRPr>
            </a:defPPr>
          </a:lstStyle>
          <a:p xmlns:a="http://schemas.openxmlformats.org/drawingml/2006/main">
            <a:pPr>
              <a:defRPr sz="1050" b="1">
                <a:solidFill>
                  <a:srgbClr val="A9BDCC"/>
                </a:solidFill>
              </a:defRPr>
            </a:pPr>
            <a:r>
              <a:rPr sz="1050" b="1">
                <a:solidFill>
                  <a:srgbClr val="A9BDCC"/>
                </a:solidFill>
              </a:rPr>
              <a:t>09</a:t>
            </a:r>
          </a:p>
        </p:txBody>
      </p:sp>
      <p:sp>
        <p:nvSpPr>
          <p:cNvPr id="5" name="">
            <a:extLst xmlns:a="http://schemas.openxmlformats.org/drawingml/2006/main">
              <a:ext uri="{FF2B5EF4-FFF2-40B4-BE49-F238E27FC236}">
                <a16:creationId xmlns:a16="http://schemas.microsoft.com/office/drawing/2014/main" id="{6E42A5CD-0196-46B8-AD48-B72167CC5120}"/>
              </a:ext>
            </a:extLst>
          </p:cNvPr>
          <p:cNvSpPr>
            <a:spLocks xmlns:a="http://schemas.openxmlformats.org/drawingml/2006/main" noGrp="1"/>
          </p:cNvSpPr>
          <p:nvPr/>
        </p:nvSpPr>
        <p:spPr>
          <a:xfrm xmlns:a="http://schemas.openxmlformats.org/drawingml/2006/main">
            <a:off x="647700" y="1619250"/>
            <a:ext cx="5334000" cy="2095500"/>
          </a:xfrm>
          <a:prstGeom xmlns:a="http://schemas.openxmlformats.org/drawingml/2006/main" prst="roundRect">
            <a:avLst>
              <a:gd name="adj" fmla="val 5455"/>
            </a:avLst>
          </a:prstGeom>
          <a:solidFill xmlns:a="http://schemas.openxmlformats.org/drawingml/2006/main">
            <a:srgbClr val="102C46"/>
          </a:solidFill>
          <a:ln xmlns:a="http://schemas.openxmlformats.org/drawingml/2006/main" w="9525">
            <a:solidFill>
              <a:srgbClr val="19D3E6"/>
            </a:solidFill>
            <a:prstDash val="solid"/>
          </a:ln>
        </p:spPr>
      </p:sp>
      <p:sp>
        <p:nvSpPr>
          <p:cNvPr id="6" name="">
            <a:extLst xmlns:a="http://schemas.openxmlformats.org/drawingml/2006/main">
              <a:ext uri="{FF2B5EF4-FFF2-40B4-BE49-F238E27FC236}">
                <a16:creationId xmlns:a16="http://schemas.microsoft.com/office/drawing/2014/main" id="{B0FB9BDD-3658-4187-A1B4-B73980A0F81E}"/>
              </a:ext>
            </a:extLst>
          </p:cNvPr>
          <p:cNvSpPr>
            <a:spLocks xmlns:a="http://schemas.openxmlformats.org/drawingml/2006/main" noGrp="1"/>
          </p:cNvSpPr>
          <p:nvPr/>
        </p:nvSpPr>
        <p:spPr>
          <a:xfrm xmlns:a="http://schemas.openxmlformats.org/drawingml/2006/main">
            <a:off x="914400" y="18859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9D3E6"/>
                </a:solidFill>
              </a:defRPr>
            </a:defPPr>
          </a:lstStyle>
          <a:p xmlns:a="http://schemas.openxmlformats.org/drawingml/2006/main">
            <a:pPr>
              <a:defRPr sz="1650" b="1">
                <a:solidFill>
                  <a:srgbClr val="19D3E6"/>
                </a:solidFill>
              </a:defRPr>
            </a:pPr>
            <a:r>
              <a:rPr sz="1650" b="1">
                <a:solidFill>
                  <a:srgbClr val="19D3E6"/>
                </a:solidFill>
              </a:rPr>
              <a:t>Ba ý cần nhớ</a:t>
            </a:r>
          </a:p>
        </p:txBody>
      </p:sp>
      <p:sp>
        <p:nvSpPr>
          <p:cNvPr id="7" name="">
            <a:extLst xmlns:a="http://schemas.openxmlformats.org/drawingml/2006/main">
              <a:ext uri="{FF2B5EF4-FFF2-40B4-BE49-F238E27FC236}">
                <a16:creationId xmlns:a16="http://schemas.microsoft.com/office/drawing/2014/main" id="{652B9037-91C8-4A46-AEC5-98975BA034A1}"/>
              </a:ext>
            </a:extLst>
          </p:cNvPr>
          <p:cNvSpPr>
            <a:spLocks xmlns:a="http://schemas.openxmlformats.org/drawingml/2006/main" noGrp="1"/>
          </p:cNvSpPr>
          <p:nvPr/>
        </p:nvSpPr>
        <p:spPr>
          <a:xfrm xmlns:a="http://schemas.openxmlformats.org/drawingml/2006/main">
            <a:off x="914400" y="2343150"/>
            <a:ext cx="4476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6FBFF"/>
                </a:solidFill>
              </a:defRPr>
            </a:defPPr>
          </a:lstStyle>
          <a:p xmlns:a="http://schemas.openxmlformats.org/drawingml/2006/main">
            <a:pPr>
              <a:lnSpc>
                <a:spcPct val="120000"/>
              </a:lnSpc>
              <a:buNone/>
              <a:defRPr sz="1350">
                <a:solidFill>
                  <a:srgbClr val="F6FBFF"/>
                </a:solidFill>
              </a:defRPr>
            </a:pPr>
            <a:r>
              <a:rPr sz="1350">
                <a:solidFill>
                  <a:srgbClr val="F6FBFF"/>
                </a:solidFill>
              </a:rPr>
              <a:t>1  Biên xuất hiện khi cường độ sáng thay đổi nhanh.</a:t>
            </a:r>
          </a:p>
          <a:p xmlns:a="http://schemas.openxmlformats.org/drawingml/2006/main">
            <a:pPr>
              <a:lnSpc>
                <a:spcPct val="120000"/>
              </a:lnSpc>
              <a:buNone/>
              <a:defRPr sz="1350">
                <a:solidFill>
                  <a:srgbClr val="F6FBFF"/>
                </a:solidFill>
              </a:defRPr>
            </a:pPr>
            <a:r>
              <a:rPr sz="1350">
                <a:solidFill>
                  <a:srgbClr val="F6FBFF"/>
                </a:solidFill>
              </a:rPr>
              <a:t>2  Canny là một thuật toán minh họa, không phải toàn bộ khái niệm Edge Feature.</a:t>
            </a:r>
          </a:p>
          <a:p xmlns:a="http://schemas.openxmlformats.org/drawingml/2006/main">
            <a:pPr>
              <a:lnSpc>
                <a:spcPct val="120000"/>
              </a:lnSpc>
              <a:buNone/>
              <a:defRPr sz="1350">
                <a:solidFill>
                  <a:srgbClr val="F6FBFF"/>
                </a:solidFill>
              </a:defRPr>
            </a:pPr>
            <a:r>
              <a:rPr sz="1350">
                <a:solidFill>
                  <a:srgbClr val="F6FBFF"/>
                </a:solidFill>
              </a:rPr>
              <a:t>3  Trong đồ án, biên giúp phân tích và khoanh vùng; nhận diện lỗi cần thêm logic hoặc AI.</a:t>
            </a:r>
          </a:p>
        </p:txBody>
      </p:sp>
      <p:sp>
        <p:nvSpPr>
          <p:cNvPr id="8" name="">
            <a:extLst xmlns:a="http://schemas.openxmlformats.org/drawingml/2006/main">
              <a:ext uri="{FF2B5EF4-FFF2-40B4-BE49-F238E27FC236}">
                <a16:creationId xmlns:a16="http://schemas.microsoft.com/office/drawing/2014/main" id="{EAFC14CB-06EF-47B3-9924-CB58207C53A0}"/>
              </a:ext>
            </a:extLst>
          </p:cNvPr>
          <p:cNvSpPr>
            <a:spLocks xmlns:a="http://schemas.openxmlformats.org/drawingml/2006/main" noGrp="1"/>
          </p:cNvSpPr>
          <p:nvPr/>
        </p:nvSpPr>
        <p:spPr>
          <a:xfrm xmlns:a="http://schemas.openxmlformats.org/drawingml/2006/main">
            <a:off x="6477000" y="1619250"/>
            <a:ext cx="4953000" cy="2095500"/>
          </a:xfrm>
          <a:prstGeom xmlns:a="http://schemas.openxmlformats.org/drawingml/2006/main" prst="roundRect">
            <a:avLst>
              <a:gd name="adj" fmla="val 5455"/>
            </a:avLst>
          </a:prstGeom>
          <a:solidFill xmlns:a="http://schemas.openxmlformats.org/drawingml/2006/main">
            <a:srgbClr val="102C46"/>
          </a:solidFill>
          <a:ln xmlns:a="http://schemas.openxmlformats.org/drawingml/2006/main" w="9525">
            <a:solidFill>
              <a:srgbClr val="57D0A4"/>
            </a:solidFill>
            <a:prstDash val="solid"/>
          </a:ln>
        </p:spPr>
      </p:sp>
      <p:sp>
        <p:nvSpPr>
          <p:cNvPr id="9" name="">
            <a:extLst xmlns:a="http://schemas.openxmlformats.org/drawingml/2006/main">
              <a:ext uri="{FF2B5EF4-FFF2-40B4-BE49-F238E27FC236}">
                <a16:creationId xmlns:a16="http://schemas.microsoft.com/office/drawing/2014/main" id="{68DD15A9-F933-440B-A153-5CD9F2DAB9BE}"/>
              </a:ext>
            </a:extLst>
          </p:cNvPr>
          <p:cNvSpPr>
            <a:spLocks xmlns:a="http://schemas.openxmlformats.org/drawingml/2006/main" noGrp="1"/>
          </p:cNvSpPr>
          <p:nvPr/>
        </p:nvSpPr>
        <p:spPr>
          <a:xfrm xmlns:a="http://schemas.openxmlformats.org/drawingml/2006/main">
            <a:off x="6743700" y="1885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57D0A4"/>
                </a:solidFill>
              </a:defRPr>
            </a:defPPr>
          </a:lstStyle>
          <a:p xmlns:a="http://schemas.openxmlformats.org/drawingml/2006/main">
            <a:pPr>
              <a:defRPr sz="1650" b="1">
                <a:solidFill>
                  <a:srgbClr val="57D0A4"/>
                </a:solidFill>
              </a:defRPr>
            </a:pPr>
            <a:r>
              <a:rPr sz="1650" b="1">
                <a:solidFill>
                  <a:srgbClr val="57D0A4"/>
                </a:solidFill>
              </a:rPr>
              <a:t>Tài liệu tham khảo</a:t>
            </a:r>
          </a:p>
        </p:txBody>
      </p:sp>
      <p:sp>
        <p:nvSpPr>
          <p:cNvPr id="10" name="">
            <a:extLst xmlns:a="http://schemas.openxmlformats.org/drawingml/2006/main">
              <a:ext uri="{FF2B5EF4-FFF2-40B4-BE49-F238E27FC236}">
                <a16:creationId xmlns:a16="http://schemas.microsoft.com/office/drawing/2014/main" id="{4798415A-B9D0-41C0-B7EE-B41C83511A0C}"/>
              </a:ext>
            </a:extLst>
          </p:cNvPr>
          <p:cNvSpPr>
            <a:spLocks xmlns:a="http://schemas.openxmlformats.org/drawingml/2006/main" noGrp="1"/>
          </p:cNvSpPr>
          <p:nvPr/>
        </p:nvSpPr>
        <p:spPr>
          <a:xfrm xmlns:a="http://schemas.openxmlformats.org/drawingml/2006/main">
            <a:off x="6743700" y="2286000"/>
            <a:ext cx="4286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a:solidFill>
                  <a:srgbClr val="F6FBFF"/>
                </a:solidFill>
              </a:defRPr>
            </a:defPPr>
          </a:lstStyle>
          <a:p xmlns:a="http://schemas.openxmlformats.org/drawingml/2006/main">
            <a:pPr>
              <a:lnSpc>
                <a:spcPct val="113000"/>
              </a:lnSpc>
              <a:buNone/>
              <a:defRPr sz="1125">
                <a:solidFill>
                  <a:srgbClr val="F6FBFF"/>
                </a:solidFill>
              </a:defRPr>
            </a:pPr>
            <a:r>
              <a:rPr sz="1125">
                <a:solidFill>
                  <a:srgbClr val="F6FBFF"/>
                </a:solidFill>
              </a:rPr>
              <a:t>OpenCV, “Canny Edge Detection”</a:t>
            </a:r>
          </a:p>
          <a:p xmlns:a="http://schemas.openxmlformats.org/drawingml/2006/main">
            <a:pPr>
              <a:lnSpc>
                <a:spcPct val="113000"/>
              </a:lnSpc>
              <a:buNone/>
              <a:defRPr sz="1125">
                <a:solidFill>
                  <a:srgbClr val="F6FBFF"/>
                </a:solidFill>
              </a:defRPr>
            </a:pPr>
            <a:r>
              <a:rPr sz="1125">
                <a:solidFill>
                  <a:srgbClr val="F6FBFF"/>
                </a:solidFill>
              </a:rPr>
              <a:t>docs.opencv.org/4.x/da/d22/tutorial_py_canny.html</a:t>
            </a:r>
          </a:p>
          <a:p xmlns:a="http://schemas.openxmlformats.org/drawingml/2006/main">
            <a:r>
              <a:t/>
            </a:r>
          </a:p>
          <a:p xmlns:a="http://schemas.openxmlformats.org/drawingml/2006/main">
            <a:pPr>
              <a:lnSpc>
                <a:spcPct val="113000"/>
              </a:lnSpc>
              <a:buNone/>
              <a:defRPr sz="1125">
                <a:solidFill>
                  <a:srgbClr val="F6FBFF"/>
                </a:solidFill>
              </a:defRPr>
            </a:pPr>
            <a:r>
              <a:rPr sz="1125">
                <a:solidFill>
                  <a:srgbClr val="F6FBFF"/>
                </a:solidFill>
              </a:rPr>
              <a:t>OpenCV, “Sobel Derivatives”</a:t>
            </a:r>
          </a:p>
          <a:p xmlns:a="http://schemas.openxmlformats.org/drawingml/2006/main">
            <a:pPr>
              <a:lnSpc>
                <a:spcPct val="113000"/>
              </a:lnSpc>
              <a:buNone/>
              <a:defRPr sz="1125">
                <a:solidFill>
                  <a:srgbClr val="F6FBFF"/>
                </a:solidFill>
              </a:defRPr>
            </a:pPr>
            <a:r>
              <a:rPr sz="1125">
                <a:solidFill>
                  <a:srgbClr val="F6FBFF"/>
                </a:solidFill>
              </a:rPr>
              <a:t>docs.opencv.org/4.11.0/d2/d2c/tutorial_sobel_derivatives.html</a:t>
            </a:r>
          </a:p>
          <a:p xmlns:a="http://schemas.openxmlformats.org/drawingml/2006/main">
            <a:r>
              <a:t/>
            </a:r>
          </a:p>
          <a:p xmlns:a="http://schemas.openxmlformats.org/drawingml/2006/main">
            <a:pPr>
              <a:lnSpc>
                <a:spcPct val="113000"/>
              </a:lnSpc>
              <a:buNone/>
              <a:defRPr sz="1125">
                <a:solidFill>
                  <a:srgbClr val="F6FBFF"/>
                </a:solidFill>
              </a:defRPr>
            </a:pPr>
            <a:r>
              <a:rPr sz="1125">
                <a:solidFill>
                  <a:srgbClr val="F6FBFF"/>
                </a:solidFill>
              </a:rPr>
              <a:t>Canny, J. (1986), IEEE TPAMI, DOI 10.1109/TPAMI.1986.4767851</a:t>
            </a:r>
          </a:p>
        </p:txBody>
      </p:sp>
      <p:sp>
        <p:nvSpPr>
          <p:cNvPr id="11" name="">
            <a:extLst xmlns:a="http://schemas.openxmlformats.org/drawingml/2006/main">
              <a:ext uri="{FF2B5EF4-FFF2-40B4-BE49-F238E27FC236}">
                <a16:creationId xmlns:a16="http://schemas.microsoft.com/office/drawing/2014/main" id="{502A8DA1-3A5E-4869-9BA4-437BCBA4C230}"/>
              </a:ext>
            </a:extLst>
          </p:cNvPr>
          <p:cNvSpPr>
            <a:spLocks xmlns:a="http://schemas.openxmlformats.org/drawingml/2006/main" noGrp="1"/>
          </p:cNvSpPr>
          <p:nvPr/>
        </p:nvSpPr>
        <p:spPr>
          <a:xfrm xmlns:a="http://schemas.openxmlformats.org/drawingml/2006/main">
            <a:off x="647700" y="4267200"/>
            <a:ext cx="10782300" cy="9525"/>
          </a:xfrm>
          <a:prstGeom xmlns:a="http://schemas.openxmlformats.org/drawingml/2006/main" prst="rect">
            <a:avLst/>
          </a:prstGeom>
          <a:solidFill xmlns:a="http://schemas.openxmlformats.org/drawingml/2006/main">
            <a:srgbClr val="2D5D7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8ED0663-BE52-46D0-8F01-83F2ED86B30E}"/>
              </a:ext>
            </a:extLst>
          </p:cNvPr>
          <p:cNvSpPr>
            <a:spLocks xmlns:a="http://schemas.openxmlformats.org/drawingml/2006/main" noGrp="1"/>
          </p:cNvSpPr>
          <p:nvPr/>
        </p:nvSpPr>
        <p:spPr>
          <a:xfrm xmlns:a="http://schemas.openxmlformats.org/drawingml/2006/main">
            <a:off x="647700" y="468630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BFF"/>
                </a:solidFill>
              </a:defRPr>
            </a:defPPr>
          </a:lstStyle>
          <a:p xmlns:a="http://schemas.openxmlformats.org/drawingml/2006/main">
            <a:pPr>
              <a:defRPr sz="3150" b="1">
                <a:solidFill>
                  <a:srgbClr val="F6FBFF"/>
                </a:solidFill>
              </a:defRPr>
            </a:pPr>
            <a:r>
              <a:rPr sz="3150" b="1">
                <a:solidFill>
                  <a:srgbClr val="F6FBFF"/>
                </a:solidFill>
              </a:rPr>
              <a:t>Cảm ơn!</a:t>
            </a:r>
          </a:p>
        </p:txBody>
      </p:sp>
      <p:sp>
        <p:nvSpPr>
          <p:cNvPr id="13" name="">
            <a:extLst xmlns:a="http://schemas.openxmlformats.org/drawingml/2006/main">
              <a:ext uri="{FF2B5EF4-FFF2-40B4-BE49-F238E27FC236}">
                <a16:creationId xmlns:a16="http://schemas.microsoft.com/office/drawing/2014/main" id="{577B1611-EC1E-4213-A1CA-51CC25967FDD}"/>
              </a:ext>
            </a:extLst>
          </p:cNvPr>
          <p:cNvSpPr>
            <a:spLocks xmlns:a="http://schemas.openxmlformats.org/drawingml/2006/main" noGrp="1"/>
          </p:cNvSpPr>
          <p:nvPr/>
        </p:nvSpPr>
        <p:spPr>
          <a:xfrm xmlns:a="http://schemas.openxmlformats.org/drawingml/2006/main">
            <a:off x="647700" y="54673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8FEAF2"/>
                </a:solidFill>
              </a:defRPr>
            </a:defPPr>
          </a:lstStyle>
          <a:p xmlns:a="http://schemas.openxmlformats.org/drawingml/2006/main">
            <a:pPr>
              <a:defRPr sz="1500">
                <a:solidFill>
                  <a:srgbClr val="8FEAF2"/>
                </a:solidFill>
              </a:defRPr>
            </a:pPr>
            <a:r>
              <a:rPr sz="1500">
                <a:solidFill>
                  <a:srgbClr val="8FEAF2"/>
                </a:solidFill>
              </a:rPr>
              <a:t>Q&amp;A · [Điền tên người trình bày]</a:t>
            </a:r>
          </a:p>
        </p:txBody>
      </p:sp>
      <p:sp>
        <p:nvSpPr>
          <p:cNvPr id="14" name="">
            <a:extLst xmlns:a="http://schemas.openxmlformats.org/drawingml/2006/main">
              <a:ext uri="{FF2B5EF4-FFF2-40B4-BE49-F238E27FC236}">
                <a16:creationId xmlns:a16="http://schemas.microsoft.com/office/drawing/2014/main" id="{6205430D-C6E1-4929-BDF7-DE30DEC26E7C}"/>
              </a:ext>
            </a:extLst>
          </p:cNvPr>
          <p:cNvSpPr>
            <a:spLocks xmlns:a="http://schemas.openxmlformats.org/drawingml/2006/main" noGrp="1"/>
          </p:cNvSpPr>
          <p:nvPr/>
        </p:nvSpPr>
        <p:spPr>
          <a:xfrm xmlns:a="http://schemas.openxmlformats.org/drawingml/2006/main">
            <a:off x="6477000" y="4857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9BDCC"/>
                </a:solidFill>
              </a:defRPr>
            </a:defPPr>
          </a:lstStyle>
          <a:p xmlns:a="http://schemas.openxmlformats.org/drawingml/2006/main">
            <a:pPr>
              <a:lnSpc>
                <a:spcPct val="115000"/>
              </a:lnSpc>
              <a:buNone/>
              <a:defRPr sz="1275">
                <a:solidFill>
                  <a:srgbClr val="A9BDCC"/>
                </a:solidFill>
              </a:defRPr>
            </a:pPr>
            <a:r>
              <a:rPr sz="1275">
                <a:solidFill>
                  <a:srgbClr val="A9BDCC"/>
                </a:solidFill>
              </a:rPr>
              <a:t>Placeholder nhóm và thông tin môn học vẫn có thể chỉnh sửa trực tiếp trong PowerPoint.</a:t>
            </a:r>
          </a:p>
        </p:txBody>
      </p:sp>
    </p:spTree>
    <p:extLst>
      <p:ext uri="{BB962C8B-B14F-4D97-AF65-F5344CB8AC3E}">
        <p14:creationId xmlns:p14="http://schemas.microsoft.com/office/powerpoint/2010/main" val="3998507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2026-10-13T10:22:07.6060000Z</dcterms:created>
  <dcterms:modified xsi:type="dcterms:W3CDTF">2026-10-13T10:22:07.6060000Z</dcterms:modified>
</coreProperties>
</file>